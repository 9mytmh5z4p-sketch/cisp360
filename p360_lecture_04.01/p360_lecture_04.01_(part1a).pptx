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89" r:id="rId2"/>
    <p:sldId id="290" r:id="rId3"/>
    <p:sldId id="291" r:id="rId4"/>
    <p:sldId id="292"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61" d="100"/>
          <a:sy n="161" d="100"/>
        </p:scale>
        <p:origin x="78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03F04-D3CF-A740-AD68-C158DA19C792}" type="datetimeFigureOut">
              <a:rPr lang="en-US" smtClean="0"/>
              <a:t>2/15/26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27928A-493E-0542-A44E-54240742904A}" type="slidenum">
              <a:rPr lang="en-US" smtClean="0"/>
              <a:t>‹#›</a:t>
            </a:fld>
            <a:endParaRPr lang="en-US"/>
          </a:p>
        </p:txBody>
      </p:sp>
    </p:spTree>
    <p:extLst>
      <p:ext uri="{BB962C8B-B14F-4D97-AF65-F5344CB8AC3E}">
        <p14:creationId xmlns:p14="http://schemas.microsoft.com/office/powerpoint/2010/main" val="1616196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start with void functions because they’re the simplest category of functions to understand. Most functions we write will need to accept input data, process it, and return results. But sometimes a function just needs to do something - print a message, draw a line on the screen, play a sound - without computing and returning a value. These action-oriented functions use void as their return type.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Void literally means “nothing” or “empty.” When you declare a function with void as its return type, you’re making a promise to the compiler: “This function will do something useful, but it won’t compute and return a value for you to use.”Think of everyday actions that are like this. When you flip a light switch, it turns on the light - that’s the action - but the switch doesn’t hand you anything back. When you send a document to a printer, it prints the pages, but it doesn’t return a value. These are void operations in the real world. In programming, void functions work the same way - they perform actions with side effects, but don’t produce a value you can capture or use in an expression.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our first void function example. Look at line 4 - the function is declared with void as the return type. The function body simply prints “Hello, World!” Notice there’s no return statement - with void functions, you don’t need one. The function just runs its code and when it reaches the closing brace, it automatically returns control to the caller. In main on line 9, we call the function by writing its name followed by parentheses. We don’t assign the result to anything because there is no result - it’s void. The function just does its job of printing and then we move on to the next statement.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break down the anatomy of a void function. The first word, void, is the return type - it says “this function returns nothing.” Next is the function name - choose something descriptive that explains what the function does. Then we have parentheses - they’re empty in these examples, but soon we’ll learn how to put parameters inside them to pass data into the function. Finally, curly braces contain the function body - all the statements that execute when the function is called. No return statement is required since we’re not returning a value.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a practical example. The displayWelcome function prints a formatted banner - three lines that create a nice header for our program. In main, we just call displayWelcome() and it does its job. This is much cleaner than having those three cout statements cluttering up main. The function name acts as a label that tells us what this code does - it displays a welcome message. This readability benefit is one of the key reasons we use functions.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example shows how multiple void functions work together to create a complete program interface. Notice the three prototypes at the top, then main calls each function in sequence to build the user interface. Each function has one clear responsibility: displayHeader shows the title, displayMenu shows the options, and displayFooter shows the closing message. This separation of concerns makes the code modular - if you want to change the menu, you only edit displayMenu. If you want to enhance the header, you only edit displayHeader. Everything is organized and easy to maintain.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Void functions serve three critical purposes in programming. First, they organize your code into logical chunks. Second, they help you avoid repetition by letting you write code once and call it many times. Third, they make your code more readable by replacing blocks of detailed code with a single descriptive function name. Let’s look at examples of each.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Organization means breaking your program into logical sections. Instead of one massive main function with hundreds of lines, you have clear, named sections. When someone reads your main function, they see displayTitle, displayMenu, displayResults - they instantly understand the program’s structure without reading implementation details.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Avoiding repetition is crucial for maintainability. Look at this printLine function - imagine if instead of calling printLine three times, you had copied that cout statement three times. Now what happens if you want to change the line to use equals signs instead of dashes? Without the function, you’d have to find and change all three copies. With the function, you change it once and all uses automatically get the update. This is the DRY principle in action.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Readability is perhaps the most important benefit. Compare reading “displayWelcomeMessage()” versus reading through 10 lines of detailed cout statements with ASCII art and formatting. The function name tells you immediately what’s happening. The implementation details are tucked away where they don’t distract from the main logic. Good function names act as documentation - they explain what the code does in plain English. This makes code much easier to understand, maintain, and debug.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 though void functions don’t return values, they can still use the return keyword to exit early. Notice line 6 - just the word return followed by a semicolon, with no value. This immediately exits the function and returns control to the caller. Any code after that return statement won’t execute. This is useful for validation or error checking - if you detect a problem early in the function, you can return immediately rather than executing the rest of the code. Just remember: return with no value for void functions, and we’ll see later how to return values from non-void functions.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at this before picture - main is cluttered with all the display details. It’s hard to see the actual program logic because it’s buried in cout statements.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look at the after version. Main reads like a table of contents: display title, display menu, do the main logic, display footer. The implementation details are hidden away in their respective functions. This is dramatically cleaner and easier to understand. When you come back to this code six months later, or when someone else reads your code, they’ll thank you for this organization. This transformation from cluttered to clean is what good function design achieves.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summarize void functions. They use void as their return type because they don’t return values. They’re perfect for operations that produce side effects like displaying output or modifying global state. They make your code more organized and readable by giving meaningful names to blocks of code. Remember you can’t return a value from a void function - return must be used alone. And because void functions don’t produce values, you can’t use them in expressions or assignments like you can with functions that return values.Next, we’ll learn how to make functions more flexible by passing data into them.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we’re ready for the really powerful stuff - passing data into functions and getting results back. This is what makes functions truly flexible and reusable.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builds on void functions by adding the ability to pass data back and forth. We’ll learn the difference between parameters and arguments, how to send data into functions, how to get computed results back, and see practical examples that tie it all together. This is where functions become truly powerful tools for organizing complex programs.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at this function - it greets Alice, but what if we want to greet Bob? Or Charlie? Or any of a hundred different people? Do we write a hundred different functions? Of course not! We need a way to make one flexible function that can work with different data each time it’s called.This is the fundamental problem that parameters solve. By giving functions the ability to receive data when they’re called, we make them flexible and reusable. One function can serve many different purposes depending on what data you pass to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Void Functions in C++</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Usually when we create a function, we need to pass data back and forth between the function and the calling code.</a:t>
            </a:r>
          </a:p>
          <a:p>
            <a:pPr>
              <a:defRPr sz="1400">
                <a:solidFill>
                  <a:srgbClr val="000000"/>
                </a:solidFill>
              </a:defRPr>
            </a:pPr>
            <a:r>
              <a:t>But what if a function doesn’t need to return anything?</a:t>
            </a:r>
          </a:p>
          <a:p>
            <a:pPr>
              <a:defRPr sz="1400">
                <a:solidFill>
                  <a:srgbClr val="000000"/>
                </a:solidFill>
              </a:defRPr>
            </a:pPr>
            <a:r>
              <a:t>That’s where</a:t>
            </a:r>
          </a:p>
          <a:p>
            <a:pPr>
              <a:defRPr sz="1400">
                <a:solidFill>
                  <a:srgbClr val="000000"/>
                </a:solidFill>
              </a:defRPr>
            </a:pPr>
            <a:r>
              <a:t>void</a:t>
            </a:r>
          </a:p>
          <a:p>
            <a:pPr>
              <a:defRPr sz="1400">
                <a:solidFill>
                  <a:srgbClr val="000000"/>
                </a:solidFill>
              </a:defRPr>
            </a:pPr>
            <a:r>
              <a:t>comes in!</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What is void?</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void</a:t>
            </a:r>
          </a:p>
          <a:p>
            <a:pPr>
              <a:defRPr sz="1400">
                <a:solidFill>
                  <a:srgbClr val="000000"/>
                </a:solidFill>
              </a:defRPr>
            </a:pPr>
            <a:r>
              <a:t>means “nothing” or “empty”</a:t>
            </a:r>
          </a:p>
          <a:p>
            <a:pPr>
              <a:defRPr sz="1400">
                <a:solidFill>
                  <a:srgbClr val="000000"/>
                </a:solidFill>
              </a:defRPr>
            </a:pPr>
            <a:r>
              <a:t>When you use</a:t>
            </a:r>
          </a:p>
          <a:p>
            <a:pPr>
              <a:defRPr sz="1400">
                <a:solidFill>
                  <a:srgbClr val="000000"/>
                </a:solidFill>
              </a:defRPr>
            </a:pPr>
            <a:r>
              <a:t>void</a:t>
            </a:r>
          </a:p>
          <a:p>
            <a:pPr>
              <a:defRPr sz="1400">
                <a:solidFill>
                  <a:srgbClr val="000000"/>
                </a:solidFill>
              </a:defRPr>
            </a:pPr>
            <a:r>
              <a:t>as a return type, you’re telling C++:</a:t>
            </a:r>
          </a:p>
          <a:p>
            <a:pPr>
              <a:defRPr sz="1400">
                <a:solidFill>
                  <a:srgbClr val="000000"/>
                </a:solidFill>
              </a:defRPr>
            </a:pPr>
            <a:r>
              <a:t>“This function does something, but it doesn’t give back a value.”</a:t>
            </a:r>
          </a:p>
          <a:p>
            <a:pPr>
              <a:defRPr sz="1400">
                <a:solidFill>
                  <a:srgbClr val="000000"/>
                </a:solidFill>
              </a:defRPr>
            </a:pPr>
            <a:r>
              <a:t>Think of it like:</a:t>
            </a:r>
          </a:p>
          <a:p>
            <a:pPr>
              <a:defRPr sz="1400">
                <a:solidFill>
                  <a:srgbClr val="000000"/>
                </a:solidFill>
              </a:defRPr>
            </a:pPr>
            <a:r>
              <a:t>A light switch: It turns on a light (action), but doesn’t give you anything back</a:t>
            </a:r>
          </a:p>
          <a:p>
            <a:pPr>
              <a:defRPr sz="1400">
                <a:solidFill>
                  <a:srgbClr val="000000"/>
                </a:solidFill>
              </a:defRPr>
            </a:pPr>
            <a:r>
              <a:t>A printer: It prints a document (action), but doesn’t return a value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A Void Function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void greet() {</a:t>
            </a:r>
          </a:p>
          <a:p>
            <a:pPr>
              <a:defRPr sz="1200">
                <a:solidFill>
                  <a:srgbClr val="000000"/>
                </a:solidFill>
                <a:latin typeface="Consolas"/>
              </a:defRPr>
            </a:pPr>
            <a:r>
              <a:t>    cout &lt;&lt; "Hello, World!" &lt;&lt; endl;</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greet();  // Call the function</a:t>
            </a:r>
          </a:p>
          <a:p>
            <a:pPr>
              <a:defRPr sz="1200">
                <a:solidFill>
                  <a:srgbClr val="000000"/>
                </a:solidFill>
                <a:latin typeface="Consolas"/>
              </a:defRPr>
            </a:pPr>
            <a:endParaRP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Void Function Syntax</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functionName() {</a:t>
            </a:r>
          </a:p>
          <a:p>
            <a:pPr>
              <a:defRPr sz="1200">
                <a:solidFill>
                  <a:srgbClr val="000000"/>
                </a:solidFill>
                <a:latin typeface="Consolas"/>
              </a:defRPr>
            </a:pPr>
            <a:r>
              <a:t>    // Code to execute</a:t>
            </a:r>
          </a:p>
          <a:p>
            <a:pPr>
              <a:defRPr sz="1200">
                <a:solidFill>
                  <a:srgbClr val="000000"/>
                </a:solidFill>
                <a:latin typeface="Consolas"/>
              </a:defRPr>
            </a:pPr>
            <a:r>
              <a:t>    // No return statement required</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Display a Message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void displayWelcome() {</a:t>
            </a:r>
          </a:p>
          <a:p>
            <a:pPr>
              <a:defRPr sz="1200">
                <a:solidFill>
                  <a:srgbClr val="000000"/>
                </a:solidFill>
                <a:latin typeface="Consolas"/>
              </a:defRPr>
            </a:pPr>
            <a:r>
              <a:t>    cout &lt;&lt; "================================" &lt;&lt; endl;</a:t>
            </a:r>
          </a:p>
          <a:p>
            <a:pPr>
              <a:defRPr sz="1200">
                <a:solidFill>
                  <a:srgbClr val="000000"/>
                </a:solidFill>
                <a:latin typeface="Consolas"/>
              </a:defRPr>
            </a:pPr>
            <a:r>
              <a:t>    cout &lt;&lt; "   WELCOME TO MY PROGRAM!       " &lt;&lt; endl;</a:t>
            </a:r>
          </a:p>
          <a:p>
            <a:pPr>
              <a:defRPr sz="1200">
                <a:solidFill>
                  <a:srgbClr val="000000"/>
                </a:solidFill>
                <a:latin typeface="Consolas"/>
              </a:defRPr>
            </a:pPr>
            <a:r>
              <a:t>    cout &lt;&lt; "================================" &lt;&lt; endl;</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displayWelcome();</a:t>
            </a:r>
          </a:p>
          <a:p>
            <a:pPr>
              <a:defRPr sz="1200">
                <a:solidFill>
                  <a:srgbClr val="000000"/>
                </a:solidFill>
                <a:latin typeface="Consolas"/>
              </a:defRPr>
            </a:pPr>
            <a:endParaRPr/>
          </a:p>
          <a:p>
            <a:pPr>
              <a:defRPr sz="1200">
                <a:solidFill>
                  <a:srgbClr val="000000"/>
                </a:solidFill>
                <a:latin typeface="Consolas"/>
              </a:defRPr>
            </a:pPr>
            <a:r>
              <a:t>    cout &lt;&lt; "Let's get started..." &lt;&lt; endl;</a:t>
            </a:r>
          </a:p>
          <a:p>
            <a:pPr>
              <a:defRPr sz="1200">
                <a:solidFill>
                  <a:srgbClr val="000000"/>
                </a:solidFill>
                <a:latin typeface="Consolas"/>
              </a:defRPr>
            </a:pPr>
            <a:endParaRP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Multiple Void Functions</a:t>
            </a:r>
          </a:p>
        </p:txBody>
      </p:sp>
      <p:sp>
        <p:nvSpPr>
          <p:cNvPr id="3" name="TextBox 2"/>
          <p:cNvSpPr txBox="1"/>
          <p:nvPr/>
        </p:nvSpPr>
        <p:spPr>
          <a:xfrm>
            <a:off x="457200" y="109728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endParaRPr/>
          </a:p>
          <a:p>
            <a:pPr>
              <a:defRPr sz="1000">
                <a:solidFill>
                  <a:srgbClr val="000000"/>
                </a:solidFill>
                <a:latin typeface="Consolas"/>
              </a:defRPr>
            </a:pPr>
            <a:r>
              <a:t>void displayHeader()</a:t>
            </a:r>
          </a:p>
          <a:p>
            <a:pPr>
              <a:defRPr sz="1000">
                <a:solidFill>
                  <a:srgbClr val="000000"/>
                </a:solidFill>
                <a:latin typeface="Consolas"/>
              </a:defRPr>
            </a:pPr>
            <a:r>
              <a:t>void displayMenu()</a:t>
            </a:r>
          </a:p>
          <a:p>
            <a:pPr>
              <a:defRPr sz="1000">
                <a:solidFill>
                  <a:srgbClr val="000000"/>
                </a:solidFill>
                <a:latin typeface="Consolas"/>
              </a:defRPr>
            </a:pPr>
            <a:r>
              <a:t>void displayFooter()</a:t>
            </a:r>
          </a:p>
          <a:p>
            <a:pPr>
              <a:defRPr sz="1000">
                <a:solidFill>
                  <a:srgbClr val="000000"/>
                </a:solidFill>
                <a:latin typeface="Consolas"/>
              </a:defRPr>
            </a:pPr>
            <a:endParaRPr/>
          </a:p>
          <a:p>
            <a:pPr>
              <a:defRPr sz="1000">
                <a:solidFill>
                  <a:srgbClr val="000000"/>
                </a:solidFill>
                <a:latin typeface="Consolas"/>
              </a:defRPr>
            </a:pPr>
            <a:r>
              <a:t>void displayHeader() {</a:t>
            </a:r>
          </a:p>
          <a:p>
            <a:pPr>
              <a:defRPr sz="1000">
                <a:solidFill>
                  <a:srgbClr val="000000"/>
                </a:solidFill>
                <a:latin typeface="Consolas"/>
              </a:defRPr>
            </a:pPr>
            <a:r>
              <a:t>    cout &lt;&lt; "*** GRADE CALCULATOR ***" &lt;&lt; endl;</a:t>
            </a:r>
          </a:p>
          <a:p>
            <a:pPr>
              <a:defRPr sz="1000">
                <a:solidFill>
                  <a:srgbClr val="000000"/>
                </a:solidFill>
                <a:latin typeface="Consolas"/>
              </a:defRPr>
            </a:pPr>
            <a:r>
              <a:t>}</a:t>
            </a:r>
          </a:p>
          <a:p>
            <a:pPr>
              <a:defRPr sz="1000">
                <a:solidFill>
                  <a:srgbClr val="000000"/>
                </a:solidFill>
                <a:latin typeface="Consolas"/>
              </a:defRPr>
            </a:pPr>
            <a:endParaRPr/>
          </a:p>
          <a:p>
            <a:pPr>
              <a:defRPr sz="1000">
                <a:solidFill>
                  <a:srgbClr val="000000"/>
                </a:solidFill>
                <a:latin typeface="Consolas"/>
              </a:defRPr>
            </a:pPr>
            <a:r>
              <a:t>void displayMenu() {</a:t>
            </a:r>
          </a:p>
          <a:p>
            <a:pPr>
              <a:defRPr sz="1000">
                <a:solidFill>
                  <a:srgbClr val="000000"/>
                </a:solidFill>
                <a:latin typeface="Consolas"/>
              </a:defRPr>
            </a:pPr>
            <a:r>
              <a:t>    cout &lt;&lt; "1. Enter grades" &lt;&lt; endl;</a:t>
            </a:r>
          </a:p>
          <a:p>
            <a:pPr>
              <a:defRPr sz="1000">
                <a:solidFill>
                  <a:srgbClr val="000000"/>
                </a:solidFill>
                <a:latin typeface="Consolas"/>
              </a:defRPr>
            </a:pPr>
            <a:r>
              <a:t>    cout &lt;&lt; "2. Calculate average" &lt;&lt; endl;</a:t>
            </a:r>
          </a:p>
          <a:p>
            <a:pPr>
              <a:defRPr sz="1000">
                <a:solidFill>
                  <a:srgbClr val="000000"/>
                </a:solidFill>
                <a:latin typeface="Consolas"/>
              </a:defRPr>
            </a:pPr>
            <a:r>
              <a:t>    cout &lt;&lt; "3. Exit" &lt;&lt; endl;</a:t>
            </a:r>
          </a:p>
          <a:p>
            <a:pPr>
              <a:defRPr sz="1000">
                <a:solidFill>
                  <a:srgbClr val="000000"/>
                </a:solidFill>
                <a:latin typeface="Consolas"/>
              </a:defRPr>
            </a:pPr>
            <a:r>
              <a:t>}</a:t>
            </a:r>
          </a:p>
          <a:p>
            <a:pPr>
              <a:defRPr sz="1000">
                <a:solidFill>
                  <a:srgbClr val="000000"/>
                </a:solidFill>
                <a:latin typeface="Consolas"/>
              </a:defRPr>
            </a:pPr>
            <a:endParaRPr/>
          </a:p>
          <a:p>
            <a:pPr>
              <a:defRPr sz="1000">
                <a:solidFill>
                  <a:srgbClr val="000000"/>
                </a:solidFill>
                <a:latin typeface="Consolas"/>
              </a:defRPr>
            </a:pPr>
            <a:r>
              <a:t>void displayFooter() {</a:t>
            </a:r>
          </a:p>
          <a:p>
            <a:pPr>
              <a:defRPr sz="1000">
                <a:solidFill>
                  <a:srgbClr val="000000"/>
                </a:solidFill>
                <a:latin typeface="Consolas"/>
              </a:defRPr>
            </a:pPr>
            <a:r>
              <a:t>    cout &lt;&lt; "*** END OF PROGRAM ***" &lt;&lt; endl;</a:t>
            </a:r>
          </a:p>
          <a:p>
            <a:pPr>
              <a:defRPr sz="1000">
                <a:solidFill>
                  <a:srgbClr val="000000"/>
                </a:solidFill>
                <a:latin typeface="Consolas"/>
              </a:defRPr>
            </a:pPr>
            <a:r>
              <a:t>}</a:t>
            </a:r>
          </a:p>
          <a:p>
            <a:pPr>
              <a:defRPr sz="1000">
                <a:solidFill>
                  <a:srgbClr val="000000"/>
                </a:solidFill>
                <a:latin typeface="Consolas"/>
              </a:defRPr>
            </a:pPr>
            <a:endParaRPr/>
          </a:p>
          <a:p>
            <a:pPr>
              <a:defRPr sz="1000">
                <a:solidFill>
                  <a:srgbClr val="000000"/>
                </a:solidFill>
                <a:latin typeface="Consolas"/>
              </a:defRPr>
            </a:pPr>
            <a:r>
              <a:t>int main() {</a:t>
            </a:r>
          </a:p>
          <a:p>
            <a:pPr>
              <a:defRPr sz="1000">
                <a:solidFill>
                  <a:srgbClr val="000000"/>
                </a:solidFill>
                <a:latin typeface="Consolas"/>
              </a:defRPr>
            </a:pPr>
            <a:r>
              <a:t>    displayHeader();</a:t>
            </a:r>
          </a:p>
          <a:p>
            <a:pPr>
              <a:defRPr sz="1000">
                <a:solidFill>
                  <a:srgbClr val="000000"/>
                </a:solidFill>
                <a:latin typeface="Consolas"/>
              </a:defRPr>
            </a:pPr>
            <a:r>
              <a:t>    displayMenu();</a:t>
            </a:r>
          </a:p>
          <a:p>
            <a:pPr>
              <a:defRPr sz="1000">
                <a:solidFill>
                  <a:srgbClr val="000000"/>
                </a:solidFill>
                <a:latin typeface="Consolas"/>
              </a:defRPr>
            </a:pPr>
            <a:r>
              <a:t>    displayFooter();</a:t>
            </a:r>
          </a:p>
          <a:p>
            <a:pPr>
              <a:defRPr sz="1000">
                <a:solidFill>
                  <a:srgbClr val="000000"/>
                </a:solidFill>
                <a:latin typeface="Consolas"/>
              </a:defRPr>
            </a:pPr>
            <a:endParaRPr/>
          </a:p>
          <a:p>
            <a:pPr>
              <a:defRPr sz="1000">
                <a:solidFill>
                  <a:srgbClr val="000000"/>
                </a:solidFill>
                <a:latin typeface="Consolas"/>
              </a:defRPr>
            </a:pPr>
            <a:r>
              <a:t>    return 0;</a:t>
            </a:r>
          </a:p>
          <a:p>
            <a:pPr>
              <a:defRPr sz="10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Why Use Void Functions?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Organize your code</a:t>
            </a:r>
          </a:p>
          <a:p>
            <a:pPr>
              <a:defRPr sz="1400">
                <a:solidFill>
                  <a:srgbClr val="000000"/>
                </a:solidFill>
              </a:defRPr>
            </a:pPr>
            <a:r>
              <a:t>Avoid repetition</a:t>
            </a:r>
          </a:p>
          <a:p>
            <a:pPr>
              <a:defRPr sz="1400">
                <a:solidFill>
                  <a:srgbClr val="000000"/>
                </a:solidFill>
              </a:defRPr>
            </a:pPr>
            <a:r>
              <a:t>Make code readable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Organize your code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displayTitle() { /* ... */ }</a:t>
            </a:r>
          </a:p>
          <a:p>
            <a:pPr>
              <a:defRPr sz="1200">
                <a:solidFill>
                  <a:srgbClr val="000000"/>
                </a:solidFill>
                <a:latin typeface="Consolas"/>
              </a:defRPr>
            </a:pPr>
            <a:r>
              <a:t>void displayMenu() { /* ... */ }</a:t>
            </a:r>
          </a:p>
          <a:p>
            <a:pPr>
              <a:defRPr sz="1200">
                <a:solidFill>
                  <a:srgbClr val="000000"/>
                </a:solidFill>
                <a:latin typeface="Consolas"/>
              </a:defRPr>
            </a:pPr>
            <a:r>
              <a:t>void displayResults() { /* ... */ }</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Avoid repetition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printLine() {</a:t>
            </a:r>
          </a:p>
          <a:p>
            <a:pPr>
              <a:defRPr sz="1200">
                <a:solidFill>
                  <a:srgbClr val="000000"/>
                </a:solidFill>
                <a:latin typeface="Consolas"/>
              </a:defRPr>
            </a:pPr>
            <a:r>
              <a:t>    cout &lt;&lt; "------------------------" &lt;&lt; endl;</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printLine();  // Use multiple times</a:t>
            </a:r>
          </a:p>
          <a:p>
            <a:pPr>
              <a:defRPr sz="1200">
                <a:solidFill>
                  <a:srgbClr val="000000"/>
                </a:solidFill>
                <a:latin typeface="Consolas"/>
              </a:defRPr>
            </a:pPr>
            <a:r>
              <a:t>    cout &lt;&lt; "Section 1" &lt;&lt; endl;</a:t>
            </a:r>
          </a:p>
          <a:p>
            <a:pPr>
              <a:defRPr sz="1200">
                <a:solidFill>
                  <a:srgbClr val="000000"/>
                </a:solidFill>
                <a:latin typeface="Consolas"/>
              </a:defRPr>
            </a:pPr>
            <a:r>
              <a:t>    printLine();</a:t>
            </a:r>
          </a:p>
          <a:p>
            <a:pPr>
              <a:defRPr sz="1200">
                <a:solidFill>
                  <a:srgbClr val="000000"/>
                </a:solidFill>
                <a:latin typeface="Consolas"/>
              </a:defRPr>
            </a:pPr>
            <a:r>
              <a:t>    cout &lt;&lt; "Section 2" &lt;&lt; endl;</a:t>
            </a:r>
          </a:p>
          <a:p>
            <a:pPr>
              <a:defRPr sz="1200">
                <a:solidFill>
                  <a:srgbClr val="000000"/>
                </a:solidFill>
                <a:latin typeface="Consolas"/>
              </a:defRPr>
            </a:pPr>
            <a:r>
              <a:t>    printLine();</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Make code readable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displayWelcomeMessage()</a:t>
            </a:r>
          </a:p>
          <a:p>
            <a:pPr>
              <a:defRPr sz="1400">
                <a:solidFill>
                  <a:srgbClr val="000000"/>
                </a:solidFill>
              </a:defRPr>
            </a:pPr>
            <a:r>
              <a:t>is clearer than 10 lines of cout</a:t>
            </a:r>
          </a:p>
          <a:p>
            <a:pPr>
              <a:defRPr sz="1400">
                <a:solidFill>
                  <a:srgbClr val="000000"/>
                </a:solidFill>
              </a:defRPr>
            </a:pPr>
            <a:r>
              <a:t>Functions act as labels for what the code does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Using return in Void Functions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checkAge() {</a:t>
            </a:r>
          </a:p>
          <a:p>
            <a:pPr>
              <a:defRPr sz="1200">
                <a:solidFill>
                  <a:srgbClr val="000000"/>
                </a:solidFill>
                <a:latin typeface="Consolas"/>
              </a:defRPr>
            </a:pPr>
            <a:r>
              <a:t>    int age = 15;</a:t>
            </a:r>
          </a:p>
          <a:p>
            <a:pPr>
              <a:defRPr sz="1200">
                <a:solidFill>
                  <a:srgbClr val="000000"/>
                </a:solidFill>
                <a:latin typeface="Consolas"/>
              </a:defRPr>
            </a:pPr>
            <a:endParaRPr/>
          </a:p>
          <a:p>
            <a:pPr>
              <a:defRPr sz="1200">
                <a:solidFill>
                  <a:srgbClr val="000000"/>
                </a:solidFill>
                <a:latin typeface="Consolas"/>
              </a:defRPr>
            </a:pPr>
            <a:r>
              <a:t>    if (age &lt; 18) {</a:t>
            </a:r>
          </a:p>
          <a:p>
            <a:pPr>
              <a:defRPr sz="1200">
                <a:solidFill>
                  <a:srgbClr val="000000"/>
                </a:solidFill>
                <a:latin typeface="Consolas"/>
              </a:defRPr>
            </a:pPr>
            <a:r>
              <a:t>        cout &lt;&lt; "Access denied." &lt;&lt; endl;</a:t>
            </a:r>
          </a:p>
          <a:p>
            <a:pPr>
              <a:defRPr sz="1200">
                <a:solidFill>
                  <a:srgbClr val="000000"/>
                </a:solidFill>
                <a:latin typeface="Consolas"/>
              </a:defRPr>
            </a:pPr>
            <a:r>
              <a:t>        return;  // Exit function early</a:t>
            </a:r>
          </a:p>
          <a:p>
            <a:pPr>
              <a:defRPr sz="1200">
                <a:solidFill>
                  <a:srgbClr val="000000"/>
                </a:solidFill>
                <a:latin typeface="Consolas"/>
              </a:defRPr>
            </a:pPr>
            <a:r>
              <a:t>    }</a:t>
            </a:r>
          </a:p>
          <a:p>
            <a:pPr>
              <a:defRPr sz="1200">
                <a:solidFill>
                  <a:srgbClr val="000000"/>
                </a:solidFill>
                <a:latin typeface="Consolas"/>
              </a:defRPr>
            </a:pPr>
            <a:endParaRPr/>
          </a:p>
          <a:p>
            <a:pPr>
              <a:defRPr sz="1200">
                <a:solidFill>
                  <a:srgbClr val="000000"/>
                </a:solidFill>
                <a:latin typeface="Consolas"/>
              </a:defRPr>
            </a:pPr>
            <a:r>
              <a:t>    cout &lt;&lt; "Access granted." &lt;&lt; endl;</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Example:Clean Code with Void Functions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int main() {</a:t>
            </a:r>
          </a:p>
          <a:p>
            <a:pPr>
              <a:defRPr sz="1200">
                <a:solidFill>
                  <a:srgbClr val="000000"/>
                </a:solidFill>
                <a:latin typeface="Consolas"/>
              </a:defRPr>
            </a:pPr>
            <a:r>
              <a:t>    cout &lt;&lt; "=== CALCULATOR ===" &lt;&lt; endl;</a:t>
            </a:r>
          </a:p>
          <a:p>
            <a:pPr>
              <a:defRPr sz="1200">
                <a:solidFill>
                  <a:srgbClr val="000000"/>
                </a:solidFill>
                <a:latin typeface="Consolas"/>
              </a:defRPr>
            </a:pPr>
            <a:r>
              <a:t>    cout &lt;&lt; "1. Add" &lt;&lt; endl;</a:t>
            </a:r>
          </a:p>
          <a:p>
            <a:pPr>
              <a:defRPr sz="1200">
                <a:solidFill>
                  <a:srgbClr val="000000"/>
                </a:solidFill>
                <a:latin typeface="Consolas"/>
              </a:defRPr>
            </a:pPr>
            <a:r>
              <a:t>    cout &lt;&lt; "2. Subtract" &lt;&lt; endl;</a:t>
            </a:r>
          </a:p>
          <a:p>
            <a:pPr>
              <a:defRPr sz="1200">
                <a:solidFill>
                  <a:srgbClr val="000000"/>
                </a:solidFill>
                <a:latin typeface="Consolas"/>
              </a:defRPr>
            </a:pPr>
            <a:r>
              <a:t>    cout &lt;&lt; "Select: ";</a:t>
            </a:r>
          </a:p>
          <a:p>
            <a:pPr>
              <a:defRPr sz="1200">
                <a:solidFill>
                  <a:srgbClr val="000000"/>
                </a:solidFill>
                <a:latin typeface="Consolas"/>
              </a:defRPr>
            </a:pPr>
            <a:r>
              <a:t>    // ... more code ...</a:t>
            </a:r>
          </a:p>
          <a:p>
            <a:pPr>
              <a:defRPr sz="1200">
                <a:solidFill>
                  <a:srgbClr val="000000"/>
                </a:solidFill>
                <a:latin typeface="Consolas"/>
              </a:defRPr>
            </a:pPr>
            <a:r>
              <a:t>    cout &lt;&lt; "=== END ===" &lt;&lt; endl;</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displayTitle() { /* ... */ }</a:t>
            </a:r>
          </a:p>
          <a:p>
            <a:pPr>
              <a:defRPr sz="1200">
                <a:solidFill>
                  <a:srgbClr val="000000"/>
                </a:solidFill>
                <a:latin typeface="Consolas"/>
              </a:defRPr>
            </a:pPr>
            <a:r>
              <a:t>void displayMenu() { /* ... */ }</a:t>
            </a:r>
          </a:p>
          <a:p>
            <a:pPr>
              <a:defRPr sz="1200">
                <a:solidFill>
                  <a:srgbClr val="000000"/>
                </a:solidFill>
                <a:latin typeface="Consolas"/>
              </a:defRPr>
            </a:pPr>
            <a:r>
              <a:t>void displayFooter() { /* ... */ }</a:t>
            </a:r>
          </a:p>
          <a:p>
            <a:pPr>
              <a:defRPr sz="1200">
                <a:solidFill>
                  <a:srgbClr val="000000"/>
                </a:solidFill>
                <a:latin typeface="Consolas"/>
              </a:defRPr>
            </a:pPr>
            <a:endParaRPr/>
          </a:p>
          <a:p>
            <a:pPr>
              <a:defRPr sz="1200">
                <a:solidFill>
                  <a:srgbClr val="000000"/>
                </a:solidFill>
                <a:latin typeface="Consolas"/>
              </a:defRPr>
            </a:pPr>
            <a:r>
              <a:t>int main() {</a:t>
            </a:r>
          </a:p>
          <a:p>
            <a:pPr>
              <a:defRPr sz="1200">
                <a:solidFill>
                  <a:srgbClr val="000000"/>
                </a:solidFill>
                <a:latin typeface="Consolas"/>
              </a:defRPr>
            </a:pPr>
            <a:r>
              <a:t>    displayTitle();</a:t>
            </a:r>
          </a:p>
          <a:p>
            <a:pPr>
              <a:defRPr sz="1200">
                <a:solidFill>
                  <a:srgbClr val="000000"/>
                </a:solidFill>
                <a:latin typeface="Consolas"/>
              </a:defRPr>
            </a:pPr>
            <a:r>
              <a:t>    displayMenu();</a:t>
            </a:r>
          </a:p>
          <a:p>
            <a:pPr>
              <a:defRPr sz="1200">
                <a:solidFill>
                  <a:srgbClr val="000000"/>
                </a:solidFill>
                <a:latin typeface="Consolas"/>
              </a:defRPr>
            </a:pPr>
            <a:r>
              <a:t>    // ... main logic ...</a:t>
            </a:r>
          </a:p>
          <a:p>
            <a:pPr>
              <a:defRPr sz="1200">
                <a:solidFill>
                  <a:srgbClr val="000000"/>
                </a:solidFill>
                <a:latin typeface="Consolas"/>
              </a:defRPr>
            </a:pPr>
            <a:r>
              <a:t>    displayFooter();</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Summary</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Void Functions:</a:t>
            </a:r>
          </a:p>
          <a:p>
            <a:pPr>
              <a:defRPr sz="1400">
                <a:solidFill>
                  <a:srgbClr val="000000"/>
                </a:solidFill>
              </a:defRPr>
            </a:pPr>
            <a:r>
              <a:t>Use</a:t>
            </a:r>
          </a:p>
          <a:p>
            <a:pPr>
              <a:defRPr sz="1400">
                <a:solidFill>
                  <a:srgbClr val="000000"/>
                </a:solidFill>
              </a:defRPr>
            </a:pPr>
            <a:r>
              <a:t>void</a:t>
            </a:r>
          </a:p>
          <a:p>
            <a:pPr>
              <a:defRPr sz="1400">
                <a:solidFill>
                  <a:srgbClr val="000000"/>
                </a:solidFill>
              </a:defRPr>
            </a:pPr>
            <a:r>
              <a:t>as return type when no value is returned</a:t>
            </a:r>
          </a:p>
          <a:p>
            <a:pPr>
              <a:defRPr sz="1400">
                <a:solidFill>
                  <a:srgbClr val="000000"/>
                </a:solidFill>
              </a:defRPr>
            </a:pPr>
            <a:r>
              <a:t>Perfect for displaying output or performing actions</a:t>
            </a:r>
          </a:p>
          <a:p>
            <a:pPr>
              <a:defRPr sz="1400">
                <a:solidFill>
                  <a:srgbClr val="000000"/>
                </a:solidFill>
              </a:defRPr>
            </a:pPr>
            <a:r>
              <a:t>Make code more organized and readable</a:t>
            </a:r>
          </a:p>
          <a:p>
            <a:pPr>
              <a:defRPr sz="1400">
                <a:solidFill>
                  <a:srgbClr val="000000"/>
                </a:solidFill>
              </a:defRPr>
            </a:pPr>
            <a:r>
              <a:t>Don’t use</a:t>
            </a:r>
          </a:p>
          <a:p>
            <a:pPr>
              <a:defRPr sz="1400">
                <a:solidFill>
                  <a:srgbClr val="000000"/>
                </a:solidFill>
              </a:defRPr>
            </a:pPr>
            <a:r>
              <a:t>return</a:t>
            </a:r>
          </a:p>
          <a:p>
            <a:pPr>
              <a:defRPr sz="1400">
                <a:solidFill>
                  <a:srgbClr val="000000"/>
                </a:solidFill>
              </a:defRPr>
            </a:pPr>
            <a:r>
              <a:t>with a value</a:t>
            </a:r>
          </a:p>
          <a:p>
            <a:pPr>
              <a:defRPr sz="1400">
                <a:solidFill>
                  <a:srgbClr val="000000"/>
                </a:solidFill>
              </a:defRPr>
            </a:pPr>
            <a:r>
              <a:t>Can’t be used in expressions or assignments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Passing Data To and From Functions</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Topics: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Understanding parameters and arguments</a:t>
            </a:r>
          </a:p>
          <a:p>
            <a:pPr>
              <a:defRPr sz="1400">
                <a:solidFill>
                  <a:srgbClr val="000000"/>
                </a:solidFill>
              </a:defRPr>
            </a:pPr>
            <a:r>
              <a:t>Passing data into functions</a:t>
            </a:r>
          </a:p>
          <a:p>
            <a:pPr>
              <a:defRPr sz="1400">
                <a:solidFill>
                  <a:srgbClr val="000000"/>
                </a:solidFill>
              </a:defRPr>
            </a:pPr>
            <a:r>
              <a:t>Returning data from functions</a:t>
            </a:r>
          </a:p>
          <a:p>
            <a:pPr>
              <a:defRPr sz="1400">
                <a:solidFill>
                  <a:srgbClr val="000000"/>
                </a:solidFill>
              </a:defRPr>
            </a:pPr>
            <a:r>
              <a:t>Function prototypes</a:t>
            </a:r>
          </a:p>
          <a:p>
            <a:pPr>
              <a:defRPr sz="1400">
                <a:solidFill>
                  <a:srgbClr val="000000"/>
                </a:solidFill>
              </a:defRPr>
            </a:pPr>
            <a:r>
              <a:t>Common mistakes and how to avoid them</a:t>
            </a:r>
          </a:p>
          <a:p>
            <a:pPr>
              <a:defRPr sz="1400">
                <a:solidFill>
                  <a:srgbClr val="000000"/>
                </a:solidFill>
              </a:defRPr>
            </a:pPr>
            <a:r>
              <a:t>Practical examples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Why Functions Need Data</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displayName() {</a:t>
            </a:r>
          </a:p>
          <a:p>
            <a:pPr>
              <a:defRPr sz="1200">
                <a:solidFill>
                  <a:srgbClr val="000000"/>
                </a:solidFill>
                <a:latin typeface="Consolas"/>
              </a:defRPr>
            </a:pPr>
            <a:r>
              <a:t>    cout &lt;&lt; "Hello, Alice!" &lt;&lt; endl;</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2220</Words>
  <Application>Microsoft Macintosh PowerPoint</Application>
  <PresentationFormat>On-screen Show (16:9)</PresentationFormat>
  <Paragraphs>193</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Fowler, Caleb</cp:lastModifiedBy>
  <cp:revision>2</cp:revision>
  <dcterms:created xsi:type="dcterms:W3CDTF">2013-01-27T09:14:16Z</dcterms:created>
  <dcterms:modified xsi:type="dcterms:W3CDTF">2026-02-16T03:16:03Z</dcterms:modified>
  <cp:category/>
</cp:coreProperties>
</file>