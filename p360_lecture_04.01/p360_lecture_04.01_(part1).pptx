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88" r:id="rId3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61" d="100"/>
          <a:sy n="161" d="100"/>
        </p:scale>
        <p:origin x="78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9BA2DE-5F45-C744-A9E9-0C6FAB133333}" type="datetimeFigureOut">
              <a:rPr lang="en-US" smtClean="0"/>
              <a:t>2/16/26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3C3C1D-8453-2444-BACC-329169D4F3D4}" type="slidenum">
              <a:rPr lang="en-US" smtClean="0"/>
              <a:t>‹#›</a:t>
            </a:fld>
            <a:endParaRPr lang="en-US"/>
          </a:p>
        </p:txBody>
      </p:sp>
    </p:spTree>
    <p:extLst>
      <p:ext uri="{BB962C8B-B14F-4D97-AF65-F5344CB8AC3E}">
        <p14:creationId xmlns:p14="http://schemas.microsoft.com/office/powerpoint/2010/main" val="1730969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back everyone!Last time, we covered four important concepts. We explored scope - understanding where variables are visible and accessible in your code. We looked at shadow variables and how local variables can hide variables from outer scopes. We also learned advanced cin techniques for reading input more effectively, and finally we worked with random number generation in C++. These concepts gave us more control over how our programs handle data and manage information flow. Today, we’re taking the next big step by learning how to organize our code using functions.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Today’s lecture is all about functions - one of the most fundamental organizing principles in programming. We’ll start by understanding function-centric architecture - the overall philosophy of how we structure programs around functions. Then we’ll learn how to create and use functions in C++. We’ll explore void functions, which perform actions without returning values, and finally we’ll see how to pass data into functions and get results back. By the end of today, you’ll be able to break complex problems into smaller, manageable pieces using functions.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begin with the big picture - what is function-centric architecture and why does it matter? This sets the foundation for everything we’ll do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Function-centric architecture is one of the primary ways we organize code. At its core, it’s simple: we take blocks of code, give them meaningful names, and then call those names when we want to execute that code. Think of it like creating custom commands - instead of writing the same code over and over, we package it up, name it, and reuse it. This approach separates our program’s data from its behavior, with functions operating on data rather than bundling them together. While this might seem basic now, it’s the foundation of structured programming and will serve you well throughout your programming journey.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dive deeper into function-centric architecture, it’s worth knowing there are other ways to organize code. Object-oriented programming, which we’ll study later in this course, bundles data and functions together into objects. And then there’s spaghetti coding - which isn’t really an architecture at all, it’s what happens when you don’t use any organizing principles. Let’s see what that looks like.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object-oriented programming, which we’ll cover later in the course, we organize code around objects that represent real-world entities. Each object contains both its data and the functions that operate on that data - they’re bundled together into self-contained units. The design process starts by asking “what things exist in my problem domain?” rather than “what tasks do I need to perform?” We won’t spend more time on this now, but I wanted you to see the contrast with the function-centric approach we’re learning today.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look at what happens when you have no architecture at all - what we call spaghetti coding. This is when you just start typing code without any planning or organization. It’s called spaghetti code because the logic gets so tangled and messy, like a plate of spaghetti. Let me show you an example using the goto statement, which allows you to jump around in your code randomly.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line 14 on your screen - we immediately jump to display_scores. Then line 24 jumps to calculate_average. Then line 37 jumps to find_highest. Notice how the flow jumps all over the place? To understand this code, you have to mentally jump around following all these goto statements. This style was common in early BASIC and FORTRAN, but we’ve learned better approaches since then.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spaghetti code has serious problems. It’s unreadable - you have to jump around mentally to follow the logic. It’s unmaintainable - change one part and you risk breaking everything. There’s no reusability - you can’t call “display scores” from elsewhere, you’d have to copy all that code.In 1968, computer scientist Edsger Dijkstra wrote a famous paper called “Go To Statement Considered Harmful” that helped establish structured programming. Modern C++ strongly discourages goto - it’s considered a code smell. Never, ever code like this!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see the right way to structure code. In function-centric architecture, functions are our primary building blocks. We take a complex problem and decompose it into a collection of functions, where each function has one specific job to do. Then, to accomplish complex operations, we have functions call other functions. This creates a hierarchy of functionality - high-level functions coordinate the big picture by calling lower-level functions that handle specific details.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key principle is separating data from behavior. Our data lives in variables or structs, and our functions operate on that data. This is different from object-oriented programming where data and behavior are bundled together. Here, we keep them separate - data is stored in one place, and we pass that data to functions as parameters when we need to do something with it. This separation makes it easier to understand what data exists in your program and what operations you can perform on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third principle is using a top-down design approach. When faced with a problem, we start at the highest level - what’s the main thing we’re trying to accomplish? Then we break that down into smaller sub-problems. Each sub-problem becomes a function. If a sub-problem is still too complex, we break it down further into even smaller functions. This creates a natural hierarchy where main() coordinates the high-level logic, calling functions that handle the major tasks, and those functions might call other functions to handle details.Think of it like managing a project - you don’t do everything yourself, you delegate tasks to team members, and they might delegate sub-tasks to others. That’s exactly how function-centric architecture works.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look at this code - it’s doing exactly the same thing as that messy spaghetti code we saw earlier, but it’s so much better!Notice how main() is clean and readable - it tells a story: display the scores, show the average, show the highest score. Each of these operations is delegated to a specialized function.Look at the function declarations at the top - these tell the compiler what functions exist and what they do. Then below main, we have the actual implementations. Each function has one clear job: calculateAverage adds up scores and divides by the count, displayScores prints them out, and findHighest finds the maximum value. Compare this to the goto-based spaghetti code - isn’t this so much clearer? You can read it top to bottom and understand exactly what’s happening. This is the power of function-centric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Function-centric architecture works great for certain types of programs. It’s perfect for learning programming, which is why we’re using it in this course. It’s also well-suited for straightforward problems where the solution is a series of steps, mathematical computations where you need to perform calculations, and small to medium-sized programs and utilities. When your program is primarily about performing a sequence of operations on data, function-centric architecture is an excellent choice.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However, function-centric architecture has its limitations. For large, complex systems with hundreds of thousands of lines of code, it can become difficult to manage all the functions and data flowing between them. When you’re modeling real-world entities - like customers, orders, and products - object-oriented programming often provides a more natural fit. Similarly, if you need strong data encapsulation where data is protected and can only be accessed through specific interfaces, objects work better. And on large projects with many developers, the encapsulation and modularity of object-oriented design helps teams work independently without stepping on each other’s toes.But for now, function-centric architecture will serve us well as we learn the fundamentals of structured programming.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show you the thought process behind creating functions. Imagine you’re writing code and you have a bunch of statements all mixed together in your main function. The diagram on your right shows this visually - just a block of code statements.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notice on your screen - several sections of this code are repeated in different places, shown here with matching colors. This duplication is a red flag. Even if the code is identical now, duplicate code tends to diverge over time. Someone will update one copy but forget to update the other, and suddenly you have bugs and inconsistencies. This is where functions come to the rescue.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solution is to extract that duplicated code, give it a meaningful name, and then call that function wherever you need that behavior. Look at the diagram - we’ve pulled out the repeated sections into separate functions, and now the main code just calls those functions by name. Now there’s only one copy of each piece of logic. If you need to change how something works, you change it in one place and all uses of that function automatically get the update. This is the DRY principle - Don’t Repeat Yourself - one of the most important principles in programming.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conceptual view of our refactored code. The main part of the program is now a clean sequence of statements and function calls. Below that, we have the function definitions with their implementation details. This gives us a nice separation - the main logic reads like a high-level outline, and the details are tucked away in their named functions. This makes code much easier to understand, maintain, and debug.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that we understand the philosophy behind functions, let’s learn the mechanics - how do we actually create and use functions in C++?</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looking for opportunities to create functions, a good place to start is with clutter code - things like headers and footers, prompts, and housekeeping tasks that don’t relate to your main logic. These are perfect candidates to extract into functions. Let’s see how we create a function.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complete example of a simple function. Let me walk you through the three key parts.At the top, after our includes, we have the function prototype on line 6 - that’s the declaration that tells the compiler “a function called DisplayMessage exists.”In main, we call that function on line 10.And then at the bottom, starting at line 16, we have the actual function definition - the implementation that contains the code to execute. Notice the function is defined below main. This is the standard style in C++ when using function prototypes.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function prototype is crucial to understand.C++ reads your code from top to bottom, and it needs to know about a function before you can call it. Without prototypes, you’d have to define every function before main, which means main would be at the bottom of your file. Prototypes solve this problem - they tell the compiler “trust me, this function exists, here’s its signature, I’ll give you the full definition later.” This lets us write our code in a more logical order, with main at the top where we naturally start reading.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Notice on line 6 - this is the prototype. It looks just like the function definition, but it ends with a semicolon and has no body.Then look down at line 16 - this is the full definition with the actual implementation in curly braces. The prototype up top makes it possible to call the function from main even though the definition comes later in the file.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lines 16 through 18 - the actual function body is below main. This is the conventional style in C++ and it has advantages: when someone opens your file, they see main first, which tells them what the program does at a high level. The implementation details of each function are below, where they don’t clutter up the main logic. Think of it like reading a book with footnotes - the main narrative flows smoothly, and the details are available when you need them.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often ask: “Can’t I just put the function above main and skip the prototype?” Yes, technically that works. But the established C++ style is to use prototypes and place definitions below main. This keeps the high-level logic at the top of the file where you naturally start reading. Following language conventions makes your code more readable to other programmers and shows you’re writing professional, idiomatic code.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Functions can call other functions - this is where the power of structured programming really shines.Let’s trace through this execution step by step. Line 14 prints “Hello from main.” Line 15 calls Deep().Execution jumps to line 8, which prints “Hello from Deep.” Line 9 calls Deeper().Execution jumps to line 4, which prints “Now inside function Deeper.” Line 5 ends the function, so we return to line 10.Line 10 prints “Now back in Deep.” Line 11 ends Deep(), so we return to line 16.Line 16 prints “Hello from main again.” Look at the output on the right - this is exactly what we see. This call chain - main calls Deep, Deep calls Deeper - is fundamental to how we build complex programs from simple functions.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same program written in the proper C++ style with prototypes. Notice lines 6 and 7 declare both functions up top. Now the definitions can go in any order below main - the prototypes have already told the compiler everything it needs to know. The execution and output are identical to before, but the code organization is cleaner and more professional. This is the style you should use in your own programs.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important point that often confuses beginners: we called Deeper() from inside Deep(), but we didn’t define Deeper() inside Deep(). Defining a function inside another function is called nesting, and C++ does not allow this. All function definitions must be at the same level.You can call functions from within other functions all day long - that’s encouraged! But the definitions themselves must all be separate, top-level definitions. Students sometimes ask “Can I put one function inside another?” The answer is no - you can call it, but not define it there.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we’re going to dive deeper into a special type of function - void functions. These are functions that perform actions but don’t return any value.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may remember seeing void before when we studied variable types. It was unusual because it’s a type, but we can’t actually declare variables with it. Now we’ll see where void is actually used - in functions that don’t return values.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Last Time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Scope</a:t>
            </a:r>
          </a:p>
          <a:p>
            <a:pPr>
              <a:defRPr sz="1400">
                <a:solidFill>
                  <a:srgbClr val="000000"/>
                </a:solidFill>
              </a:defRPr>
            </a:pPr>
            <a:r>
              <a:t>Shadow Variables I</a:t>
            </a:r>
          </a:p>
          <a:p>
            <a:pPr>
              <a:defRPr sz="1400">
                <a:solidFill>
                  <a:srgbClr val="000000"/>
                </a:solidFill>
              </a:defRPr>
            </a:pPr>
            <a:r>
              <a:t>Advanced</a:t>
            </a:r>
          </a:p>
          <a:p>
            <a:pPr>
              <a:defRPr sz="1400">
                <a:solidFill>
                  <a:srgbClr val="000000"/>
                </a:solidFill>
              </a:defRPr>
            </a:pPr>
            <a:r>
              <a:t>cin</a:t>
            </a:r>
          </a:p>
          <a:p>
            <a:pPr>
              <a:defRPr sz="1400">
                <a:solidFill>
                  <a:srgbClr val="000000"/>
                </a:solidFill>
              </a:defRPr>
            </a:pPr>
            <a:r>
              <a:t>Random Numbers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Today’s Agenda</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 Centric Architecture</a:t>
            </a:r>
          </a:p>
          <a:p>
            <a:pPr>
              <a:defRPr sz="1400">
                <a:solidFill>
                  <a:srgbClr val="000000"/>
                </a:solidFill>
              </a:defRPr>
            </a:pPr>
            <a:r>
              <a:t>Functions</a:t>
            </a:r>
          </a:p>
          <a:p>
            <a:pPr>
              <a:defRPr sz="1400">
                <a:solidFill>
                  <a:srgbClr val="000000"/>
                </a:solidFill>
              </a:defRPr>
            </a:pPr>
            <a:r>
              <a:t>Void Functions</a:t>
            </a:r>
          </a:p>
          <a:p>
            <a:pPr>
              <a:defRPr sz="1400">
                <a:solidFill>
                  <a:srgbClr val="000000"/>
                </a:solidFill>
              </a:defRPr>
            </a:pPr>
            <a:r>
              <a:t>Passing Data In and Out of Functions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Centered Architecture</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Centered Architecture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Function-centric architecture refers to a program design approach where the code is organized primarily around functions (procedures) rather than objects or classes.</a:t>
            </a:r>
          </a:p>
          <a:p>
            <a:pPr>
              <a:defRPr sz="1400">
                <a:solidFill>
                  <a:srgbClr val="000000"/>
                </a:solidFill>
              </a:defRPr>
            </a:pPr>
            <a:r>
              <a:t>A function is a block of code we assign a name to. We call the name to execute the code.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Other Architectures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Object Oriented</a:t>
            </a:r>
          </a:p>
          <a:p>
            <a:pPr>
              <a:defRPr sz="1400">
                <a:solidFill>
                  <a:srgbClr val="000000"/>
                </a:solidFill>
              </a:defRPr>
            </a:pPr>
            <a:r>
              <a:t>Spaghetti Coding</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Object-Oriented Architecture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Organized around classes/objects.</a:t>
            </a:r>
          </a:p>
          <a:p>
            <a:pPr>
              <a:defRPr sz="1400">
                <a:solidFill>
                  <a:srgbClr val="000000"/>
                </a:solidFill>
              </a:defRPr>
            </a:pPr>
            <a:r>
              <a:t>Data and functions bundled together (mini programs).</a:t>
            </a:r>
          </a:p>
          <a:p>
            <a:pPr>
              <a:defRPr sz="1400">
                <a:solidFill>
                  <a:srgbClr val="000000"/>
                </a:solidFill>
              </a:defRPr>
            </a:pPr>
            <a:r>
              <a:t>Focus: “What entities/objects exist?”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Spaghetti Coding</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Just type it in as you go along.</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840480"/>
          </a:xfrm>
          <a:prstGeom prst="rect">
            <a:avLst/>
          </a:prstGeom>
          <a:solidFill>
            <a:srgbClr val="F5F5F5"/>
          </a:solidFill>
        </p:spPr>
        <p:txBody>
          <a:bodyPr wrap="none" tIns="91440" bIns="91440">
            <a:spAutoFit/>
          </a:bodyPr>
          <a:lstStyle/>
          <a:p>
            <a:pPr>
              <a:defRPr sz="900">
                <a:solidFill>
                  <a:srgbClr val="000000"/>
                </a:solidFill>
                <a:latin typeface="Consolas"/>
              </a:defRPr>
            </a:pPr>
            <a:r>
              <a:t>#include &lt;iostream&gt;</a:t>
            </a:r>
          </a:p>
          <a:p>
            <a:pPr>
              <a:defRPr sz="900">
                <a:solidFill>
                  <a:srgbClr val="000000"/>
                </a:solidFill>
                <a:latin typeface="Consolas"/>
              </a:defRPr>
            </a:pPr>
            <a:r>
              <a:t>#include &lt;vector&gt;</a:t>
            </a:r>
          </a:p>
          <a:p>
            <a:pPr>
              <a:defRPr sz="900">
                <a:solidFill>
                  <a:srgbClr val="000000"/>
                </a:solidFill>
                <a:latin typeface="Consolas"/>
              </a:defRPr>
            </a:pPr>
            <a:r>
              <a:t>using namespace std;</a:t>
            </a:r>
          </a:p>
          <a:p>
            <a:pPr>
              <a:defRPr sz="900">
                <a:solidFill>
                  <a:srgbClr val="000000"/>
                </a:solidFill>
                <a:latin typeface="Consolas"/>
              </a:defRPr>
            </a:pPr>
            <a:endParaRPr/>
          </a:p>
          <a:p>
            <a:pPr>
              <a:defRPr sz="900">
                <a:solidFill>
                  <a:srgbClr val="000000"/>
                </a:solidFill>
                <a:latin typeface="Consolas"/>
              </a:defRPr>
            </a:pPr>
            <a:r>
              <a:t>int main() {</a:t>
            </a:r>
          </a:p>
          <a:p>
            <a:pPr>
              <a:defRPr sz="900">
                <a:solidFill>
                  <a:srgbClr val="000000"/>
                </a:solidFill>
                <a:latin typeface="Consolas"/>
              </a:defRPr>
            </a:pPr>
            <a:r>
              <a:t>    vector&lt;int&gt; scores = {85, 92, 78, 95, 88};</a:t>
            </a:r>
          </a:p>
          <a:p>
            <a:pPr>
              <a:defRPr sz="900">
                <a:solidFill>
                  <a:srgbClr val="000000"/>
                </a:solidFill>
                <a:latin typeface="Consolas"/>
              </a:defRPr>
            </a:pPr>
            <a:r>
              <a:t>    int index;</a:t>
            </a:r>
          </a:p>
          <a:p>
            <a:pPr>
              <a:defRPr sz="900">
                <a:solidFill>
                  <a:srgbClr val="000000"/>
                </a:solidFill>
                <a:latin typeface="Consolas"/>
              </a:defRPr>
            </a:pPr>
            <a:r>
              <a:t>    int total;</a:t>
            </a:r>
          </a:p>
          <a:p>
            <a:pPr>
              <a:defRPr sz="900">
                <a:solidFill>
                  <a:srgbClr val="000000"/>
                </a:solidFill>
                <a:latin typeface="Consolas"/>
              </a:defRPr>
            </a:pPr>
            <a:r>
              <a:t>    double average;</a:t>
            </a:r>
          </a:p>
          <a:p>
            <a:pPr>
              <a:defRPr sz="900">
                <a:solidFill>
                  <a:srgbClr val="000000"/>
                </a:solidFill>
                <a:latin typeface="Consolas"/>
              </a:defRPr>
            </a:pPr>
            <a:r>
              <a:t>    int highest;</a:t>
            </a:r>
          </a:p>
          <a:p>
            <a:pPr>
              <a:defRPr sz="900">
                <a:solidFill>
                  <a:srgbClr val="000000"/>
                </a:solidFill>
                <a:latin typeface="Consolas"/>
              </a:defRPr>
            </a:pPr>
            <a:endParaRPr/>
          </a:p>
          <a:p>
            <a:pPr>
              <a:defRPr sz="900">
                <a:solidFill>
                  <a:srgbClr val="000000"/>
                </a:solidFill>
                <a:latin typeface="Consolas"/>
              </a:defRPr>
            </a:pPr>
            <a:r>
              <a:t>    // Jump to display section</a:t>
            </a:r>
          </a:p>
          <a:p>
            <a:pPr>
              <a:defRPr sz="900">
                <a:solidFill>
                  <a:srgbClr val="000000"/>
                </a:solidFill>
                <a:latin typeface="Consolas"/>
              </a:defRPr>
            </a:pPr>
            <a:r>
              <a:t>    goto display_scores;</a:t>
            </a:r>
          </a:p>
          <a:p>
            <a:pPr>
              <a:defRPr sz="900">
                <a:solidFill>
                  <a:srgbClr val="000000"/>
                </a:solidFill>
                <a:latin typeface="Consolas"/>
              </a:defRPr>
            </a:pPr>
            <a:endParaRPr/>
          </a:p>
          <a:p>
            <a:pPr>
              <a:defRPr sz="900">
                <a:solidFill>
                  <a:srgbClr val="000000"/>
                </a:solidFill>
                <a:latin typeface="Consolas"/>
              </a:defRPr>
            </a:pPr>
            <a:r>
              <a:t>display_scores:</a:t>
            </a:r>
          </a:p>
          <a:p>
            <a:pPr>
              <a:defRPr sz="900">
                <a:solidFill>
                  <a:srgbClr val="000000"/>
                </a:solidFill>
                <a:latin typeface="Consolas"/>
              </a:defRPr>
            </a:pPr>
            <a:r>
              <a:t>    index = 0;</a:t>
            </a:r>
          </a:p>
          <a:p>
            <a:pPr>
              <a:defRPr sz="900">
                <a:solidFill>
                  <a:srgbClr val="000000"/>
                </a:solidFill>
                <a:latin typeface="Consolas"/>
              </a:defRPr>
            </a:pPr>
            <a:r>
              <a:t>display_loop:</a:t>
            </a:r>
          </a:p>
          <a:p>
            <a:pPr>
              <a:defRPr sz="900">
                <a:solidFill>
                  <a:srgbClr val="000000"/>
                </a:solidFill>
                <a:latin typeface="Consolas"/>
              </a:defRPr>
            </a:pPr>
            <a:r>
              <a:t>    if (index &gt;= scores.size()) goto display_done;</a:t>
            </a:r>
          </a:p>
          <a:p>
            <a:pPr>
              <a:defRPr sz="900">
                <a:solidFill>
                  <a:srgbClr val="000000"/>
                </a:solidFill>
                <a:latin typeface="Consolas"/>
              </a:defRPr>
            </a:pPr>
            <a:r>
              <a:t>    cout &lt;&lt; scores[index] &lt;&lt; " ";</a:t>
            </a:r>
          </a:p>
          <a:p>
            <a:pPr>
              <a:defRPr sz="900">
                <a:solidFill>
                  <a:srgbClr val="000000"/>
                </a:solidFill>
                <a:latin typeface="Consolas"/>
              </a:defRPr>
            </a:pPr>
            <a:r>
              <a:t>    index++;</a:t>
            </a:r>
          </a:p>
          <a:p>
            <a:pPr>
              <a:defRPr sz="900">
                <a:solidFill>
                  <a:srgbClr val="000000"/>
                </a:solidFill>
                <a:latin typeface="Consolas"/>
              </a:defRPr>
            </a:pPr>
            <a:r>
              <a:t>    goto display_loop;</a:t>
            </a:r>
          </a:p>
          <a:p>
            <a:pPr>
              <a:defRPr sz="900">
                <a:solidFill>
                  <a:srgbClr val="000000"/>
                </a:solidFill>
                <a:latin typeface="Consolas"/>
              </a:defRPr>
            </a:pPr>
            <a:endParaRPr/>
          </a:p>
          <a:p>
            <a:pPr>
              <a:defRPr sz="900">
                <a:solidFill>
                  <a:srgbClr val="000000"/>
                </a:solidFill>
                <a:latin typeface="Consolas"/>
              </a:defRPr>
            </a:pPr>
            <a:r>
              <a:t>display_done:</a:t>
            </a:r>
          </a:p>
          <a:p>
            <a:pPr>
              <a:defRPr sz="900">
                <a:solidFill>
                  <a:srgbClr val="000000"/>
                </a:solidFill>
                <a:latin typeface="Consolas"/>
              </a:defRPr>
            </a:pPr>
            <a:r>
              <a:t>    cout &lt;&lt; endl;</a:t>
            </a:r>
          </a:p>
          <a:p>
            <a:pPr>
              <a:defRPr sz="900">
                <a:solidFill>
                  <a:srgbClr val="000000"/>
                </a:solidFill>
                <a:latin typeface="Consolas"/>
              </a:defRPr>
            </a:pPr>
            <a:r>
              <a:t>    goto calculate_average;</a:t>
            </a:r>
          </a:p>
          <a:p>
            <a:pPr>
              <a:defRPr sz="900">
                <a:solidFill>
                  <a:srgbClr val="000000"/>
                </a:solidFill>
                <a:latin typeface="Consolas"/>
              </a:defRPr>
            </a:pPr>
            <a:endParaRPr/>
          </a:p>
          <a:p>
            <a:pPr>
              <a:defRPr sz="900">
                <a:solidFill>
                  <a:srgbClr val="000000"/>
                </a:solidFill>
                <a:latin typeface="Consolas"/>
              </a:defRPr>
            </a:pPr>
            <a:r>
              <a:t>calculate_average:</a:t>
            </a:r>
          </a:p>
          <a:p>
            <a:pPr>
              <a:defRPr sz="900">
                <a:solidFill>
                  <a:srgbClr val="000000"/>
                </a:solidFill>
                <a:latin typeface="Consolas"/>
              </a:defRPr>
            </a:pPr>
            <a:r>
              <a:t>    total = 0;</a:t>
            </a:r>
          </a:p>
          <a:p>
            <a:pPr>
              <a:defRPr sz="900">
                <a:solidFill>
                  <a:srgbClr val="000000"/>
                </a:solidFill>
                <a:latin typeface="Consolas"/>
              </a:defRPr>
            </a:pPr>
            <a:r>
              <a:t>    index = 0;</a:t>
            </a:r>
          </a:p>
          <a:p>
            <a:pPr>
              <a:defRPr sz="900">
                <a:solidFill>
                  <a:srgbClr val="000000"/>
                </a:solidFill>
                <a:latin typeface="Consolas"/>
              </a:defRPr>
            </a:pPr>
            <a:r>
              <a:t>avg_loop:</a:t>
            </a:r>
          </a:p>
          <a:p>
            <a:pPr>
              <a:defRPr sz="900">
                <a:solidFill>
                  <a:srgbClr val="000000"/>
                </a:solidFill>
                <a:latin typeface="Consolas"/>
              </a:defRPr>
            </a:pPr>
            <a:r>
              <a:t>    if (index &gt;= scores.size()) goto avg_done;</a:t>
            </a:r>
          </a:p>
          <a:p>
            <a:pPr>
              <a:defRPr sz="900">
                <a:solidFill>
                  <a:srgbClr val="000000"/>
                </a:solidFill>
                <a:latin typeface="Consolas"/>
              </a:defRPr>
            </a:pPr>
            <a:r>
              <a:t>    total += scores[index];</a:t>
            </a:r>
          </a:p>
          <a:p>
            <a:pPr>
              <a:defRPr sz="900">
                <a:solidFill>
                  <a:srgbClr val="000000"/>
                </a:solidFill>
                <a:latin typeface="Consolas"/>
              </a:defRPr>
            </a:pPr>
            <a:r>
              <a:t>    index++;</a:t>
            </a:r>
          </a:p>
          <a:p>
            <a:pPr>
              <a:defRPr sz="900">
                <a:solidFill>
                  <a:srgbClr val="000000"/>
                </a:solidFill>
                <a:latin typeface="Consolas"/>
              </a:defRPr>
            </a:pPr>
            <a:r>
              <a:t>    goto avg_loop;</a:t>
            </a:r>
          </a:p>
          <a:p>
            <a:pPr>
              <a:defRPr sz="900">
                <a:solidFill>
                  <a:srgbClr val="000000"/>
                </a:solidFill>
                <a:latin typeface="Consolas"/>
              </a:defRPr>
            </a:pPr>
            <a:endParaRPr/>
          </a:p>
          <a:p>
            <a:pPr>
              <a:defRPr sz="900">
                <a:solidFill>
                  <a:srgbClr val="000000"/>
                </a:solidFill>
                <a:latin typeface="Consolas"/>
              </a:defRPr>
            </a:pPr>
            <a:r>
              <a:t>avg_done:</a:t>
            </a:r>
          </a:p>
          <a:p>
            <a:pPr>
              <a:defRPr sz="900">
                <a:solidFill>
                  <a:srgbClr val="000000"/>
                </a:solidFill>
                <a:latin typeface="Consolas"/>
              </a:defRPr>
            </a:pPr>
            <a:r>
              <a:t>    average = static_cast&lt;double&gt;(total) / scores.size();</a:t>
            </a:r>
          </a:p>
          <a:p>
            <a:pPr>
              <a:defRPr sz="900">
                <a:solidFill>
                  <a:srgbClr val="000000"/>
                </a:solidFill>
                <a:latin typeface="Consolas"/>
              </a:defRPr>
            </a:pPr>
            <a:r>
              <a:t>    cout &lt;&lt; "Average: " &lt;&lt; average &lt;&lt; endl;</a:t>
            </a:r>
          </a:p>
          <a:p>
            <a:pPr>
              <a:defRPr sz="900">
                <a:solidFill>
                  <a:srgbClr val="000000"/>
                </a:solidFill>
                <a:latin typeface="Consolas"/>
              </a:defRPr>
            </a:pPr>
            <a:r>
              <a:t>    goto find_highest;</a:t>
            </a:r>
          </a:p>
          <a:p>
            <a:pPr>
              <a:defRPr sz="900">
                <a:solidFill>
                  <a:srgbClr val="000000"/>
                </a:solidFill>
                <a:latin typeface="Consolas"/>
              </a:defRPr>
            </a:pPr>
            <a:endParaRPr/>
          </a:p>
          <a:p>
            <a:pPr>
              <a:defRPr sz="900">
                <a:solidFill>
                  <a:srgbClr val="000000"/>
                </a:solidFill>
                <a:latin typeface="Consolas"/>
              </a:defRPr>
            </a:pPr>
            <a:r>
              <a:t>find_highest:</a:t>
            </a:r>
          </a:p>
          <a:p>
            <a:pPr>
              <a:defRPr sz="900">
                <a:solidFill>
                  <a:srgbClr val="000000"/>
                </a:solidFill>
                <a:latin typeface="Consolas"/>
              </a:defRPr>
            </a:pPr>
            <a:r>
              <a:t>    highest = scores[0];</a:t>
            </a:r>
          </a:p>
          <a:p>
            <a:pPr>
              <a:defRPr sz="900">
                <a:solidFill>
                  <a:srgbClr val="000000"/>
                </a:solidFill>
                <a:latin typeface="Consolas"/>
              </a:defRPr>
            </a:pPr>
            <a:r>
              <a:t>    index = 0;</a:t>
            </a:r>
          </a:p>
          <a:p>
            <a:pPr>
              <a:defRPr sz="900">
                <a:solidFill>
                  <a:srgbClr val="000000"/>
                </a:solidFill>
                <a:latin typeface="Consolas"/>
              </a:defRPr>
            </a:pPr>
            <a:r>
              <a:t>high_loop:</a:t>
            </a:r>
          </a:p>
          <a:p>
            <a:pPr>
              <a:defRPr sz="900">
                <a:solidFill>
                  <a:srgbClr val="000000"/>
                </a:solidFill>
                <a:latin typeface="Consolas"/>
              </a:defRPr>
            </a:pPr>
            <a:r>
              <a:t>    if (index &gt;= scores.size()) goto high_done;</a:t>
            </a:r>
          </a:p>
          <a:p>
            <a:pPr>
              <a:defRPr sz="900">
                <a:solidFill>
                  <a:srgbClr val="000000"/>
                </a:solidFill>
                <a:latin typeface="Consolas"/>
              </a:defRPr>
            </a:pPr>
            <a:r>
              <a:t>    if (scores[index] &gt; highest) {</a:t>
            </a:r>
          </a:p>
          <a:p>
            <a:pPr>
              <a:defRPr sz="900">
                <a:solidFill>
                  <a:srgbClr val="000000"/>
                </a:solidFill>
                <a:latin typeface="Consolas"/>
              </a:defRPr>
            </a:pPr>
            <a:r>
              <a:t>        highest = scores[index];</a:t>
            </a:r>
          </a:p>
          <a:p>
            <a:pPr>
              <a:defRPr sz="900">
                <a:solidFill>
                  <a:srgbClr val="000000"/>
                </a:solidFill>
                <a:latin typeface="Consolas"/>
              </a:defRPr>
            </a:pPr>
            <a:r>
              <a:t>    }</a:t>
            </a:r>
          </a:p>
          <a:p>
            <a:pPr>
              <a:defRPr sz="900">
                <a:solidFill>
                  <a:srgbClr val="000000"/>
                </a:solidFill>
                <a:latin typeface="Consolas"/>
              </a:defRPr>
            </a:pPr>
            <a:r>
              <a:t>    index++;</a:t>
            </a:r>
          </a:p>
          <a:p>
            <a:pPr>
              <a:defRPr sz="900">
                <a:solidFill>
                  <a:srgbClr val="000000"/>
                </a:solidFill>
                <a:latin typeface="Consolas"/>
              </a:defRPr>
            </a:pPr>
            <a:r>
              <a:t>    goto high_loop;</a:t>
            </a:r>
          </a:p>
          <a:p>
            <a:pPr>
              <a:defRPr sz="900">
                <a:solidFill>
                  <a:srgbClr val="000000"/>
                </a:solidFill>
                <a:latin typeface="Consolas"/>
              </a:defRPr>
            </a:pPr>
            <a:endParaRPr/>
          </a:p>
          <a:p>
            <a:pPr>
              <a:defRPr sz="900">
                <a:solidFill>
                  <a:srgbClr val="000000"/>
                </a:solidFill>
                <a:latin typeface="Consolas"/>
              </a:defRPr>
            </a:pPr>
            <a:r>
              <a:t>high_done:</a:t>
            </a:r>
          </a:p>
          <a:p>
            <a:pPr>
              <a:defRPr sz="900">
                <a:solidFill>
                  <a:srgbClr val="000000"/>
                </a:solidFill>
                <a:latin typeface="Consolas"/>
              </a:defRPr>
            </a:pPr>
            <a:r>
              <a:t>    cout &lt;&lt; "Highest: " &lt;&lt; highest &lt;&lt; endl;</a:t>
            </a:r>
          </a:p>
          <a:p>
            <a:pPr>
              <a:defRPr sz="900">
                <a:solidFill>
                  <a:srgbClr val="000000"/>
                </a:solidFill>
                <a:latin typeface="Consolas"/>
              </a:defRPr>
            </a:pPr>
            <a:r>
              <a:t>    goto program_end;</a:t>
            </a:r>
          </a:p>
          <a:p>
            <a:pPr>
              <a:defRPr sz="900">
                <a:solidFill>
                  <a:srgbClr val="000000"/>
                </a:solidFill>
                <a:latin typeface="Consolas"/>
              </a:defRPr>
            </a:pPr>
            <a:endParaRPr/>
          </a:p>
          <a:p>
            <a:pPr>
              <a:defRPr sz="900">
                <a:solidFill>
                  <a:srgbClr val="000000"/>
                </a:solidFill>
                <a:latin typeface="Consolas"/>
              </a:defRPr>
            </a:pPr>
            <a:r>
              <a:t>program_end:</a:t>
            </a:r>
          </a:p>
          <a:p>
            <a:pPr>
              <a:defRPr sz="900">
                <a:solidFill>
                  <a:srgbClr val="000000"/>
                </a:solidFill>
                <a:latin typeface="Consolas"/>
              </a:defRPr>
            </a:pPr>
            <a:r>
              <a:t>    return 0;</a:t>
            </a:r>
          </a:p>
          <a:p>
            <a:pPr>
              <a:defRPr sz="900">
                <a:solidFill>
                  <a:srgbClr val="000000"/>
                </a:solidFill>
                <a:latin typeface="Consolas"/>
              </a:defRPr>
            </a:pPr>
            <a:r>
              <a: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Why is this bad code?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Unreadable - Jump around to understand flow</a:t>
            </a:r>
          </a:p>
          <a:p>
            <a:pPr>
              <a:defRPr sz="1400">
                <a:solidFill>
                  <a:srgbClr val="000000"/>
                </a:solidFill>
              </a:defRPr>
            </a:pPr>
            <a:r>
              <a:t>Unmaintainable - Hard to modify without breaking</a:t>
            </a:r>
          </a:p>
          <a:p>
            <a:pPr>
              <a:defRPr sz="1400">
                <a:solidFill>
                  <a:srgbClr val="000000"/>
                </a:solidFill>
              </a:defRPr>
            </a:pPr>
            <a:r>
              <a:t>Not reusable - Can’t call “display” from elsewhere</a:t>
            </a:r>
          </a:p>
          <a:p>
            <a:pPr>
              <a:defRPr sz="1400">
                <a:solidFill>
                  <a:srgbClr val="000000"/>
                </a:solidFill>
              </a:defRPr>
            </a:pPr>
            <a:r>
              <a:t>Error-prone - Easy to create infinite loops or skip code</a:t>
            </a:r>
          </a:p>
          <a:p>
            <a:pPr>
              <a:defRPr sz="1400">
                <a:solidFill>
                  <a:srgbClr val="000000"/>
                </a:solidFill>
              </a:defRPr>
            </a:pPr>
            <a:r>
              <a:t>Hard to debug - Control flow is non-linear</a:t>
            </a:r>
          </a:p>
          <a:p>
            <a:pPr>
              <a:defRPr sz="1400">
                <a:solidFill>
                  <a:srgbClr val="000000"/>
                </a:solidFill>
              </a:defRPr>
            </a:pPr>
            <a:r>
              <a:t>No abstraction - All details exposed in one place</a:t>
            </a:r>
          </a:p>
          <a:p>
            <a:pPr>
              <a:defRPr sz="1400">
                <a:solidFill>
                  <a:srgbClr val="000000"/>
                </a:solidFill>
              </a:defRPr>
            </a:pPr>
            <a:r>
              <a:t>Never, ever, code like this.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Centric Architecture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Functions are the primary building blocks of Structured Code</a:t>
            </a:r>
          </a:p>
          <a:p>
            <a:pPr>
              <a:defRPr sz="1400">
                <a:solidFill>
                  <a:srgbClr val="000000"/>
                </a:solidFill>
              </a:defRPr>
            </a:pPr>
            <a:r>
              <a:t>The program is decomposed into a collection of functions</a:t>
            </a:r>
          </a:p>
          <a:p>
            <a:pPr>
              <a:defRPr sz="1400">
                <a:solidFill>
                  <a:srgbClr val="000000"/>
                </a:solidFill>
              </a:defRPr>
            </a:pPr>
            <a:r>
              <a:t>Each function performs a specific task</a:t>
            </a:r>
          </a:p>
          <a:p>
            <a:pPr>
              <a:defRPr sz="1400">
                <a:solidFill>
                  <a:srgbClr val="000000"/>
                </a:solidFill>
              </a:defRPr>
            </a:pPr>
            <a:r>
              <a:t>Functions call other functions to accomplish complex operations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Centric Architecture (cont)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Functions are the primary building blocks of Structured Code</a:t>
            </a:r>
          </a:p>
          <a:p>
            <a:pPr>
              <a:defRPr sz="1400">
                <a:solidFill>
                  <a:srgbClr val="000000"/>
                </a:solidFill>
              </a:defRPr>
            </a:pPr>
            <a:r>
              <a:t>Data and behavior are separated</a:t>
            </a:r>
          </a:p>
          <a:p>
            <a:pPr>
              <a:defRPr sz="1400">
                <a:solidFill>
                  <a:srgbClr val="000000"/>
                </a:solidFill>
              </a:defRPr>
            </a:pPr>
            <a:r>
              <a:t>Data is typically stored in variables or structs</a:t>
            </a:r>
          </a:p>
          <a:p>
            <a:pPr>
              <a:defRPr sz="1400">
                <a:solidFill>
                  <a:srgbClr val="000000"/>
                </a:solidFill>
              </a:defRPr>
            </a:pPr>
            <a:r>
              <a:t>Functions operate on that data</a:t>
            </a:r>
          </a:p>
          <a:p>
            <a:pPr>
              <a:defRPr sz="1400">
                <a:solidFill>
                  <a:srgbClr val="000000"/>
                </a:solidFill>
              </a:defRPr>
            </a:pPr>
            <a:r>
              <a:t>Data is passed to functions as parameters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Centric Architecture (cont)</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Functions are the primary building blocks of Structured Code</a:t>
            </a:r>
          </a:p>
          <a:p>
            <a:pPr>
              <a:defRPr sz="1400">
                <a:solidFill>
                  <a:srgbClr val="000000"/>
                </a:solidFill>
              </a:defRPr>
            </a:pPr>
            <a:r>
              <a:t>Data and behavior are separated</a:t>
            </a:r>
          </a:p>
          <a:p>
            <a:pPr>
              <a:defRPr sz="1400">
                <a:solidFill>
                  <a:srgbClr val="000000"/>
                </a:solidFill>
              </a:defRPr>
            </a:pPr>
            <a:r>
              <a:t>Top-down design approach:</a:t>
            </a:r>
          </a:p>
          <a:p>
            <a:pPr>
              <a:defRPr sz="1400">
                <a:solidFill>
                  <a:srgbClr val="000000"/>
                </a:solidFill>
              </a:defRPr>
            </a:pPr>
            <a:r>
              <a:t>Start with the main problem</a:t>
            </a:r>
          </a:p>
          <a:p>
            <a:pPr>
              <a:defRPr sz="1400">
                <a:solidFill>
                  <a:srgbClr val="000000"/>
                </a:solidFill>
              </a:defRPr>
            </a:pPr>
            <a:r>
              <a:t>Break it into smaller sub-problems (functions)</a:t>
            </a:r>
          </a:p>
          <a:p>
            <a:pPr>
              <a:defRPr sz="1400">
                <a:solidFill>
                  <a:srgbClr val="000000"/>
                </a:solidFill>
              </a:defRPr>
            </a:pPr>
            <a:r>
              <a:t>Each sub-problem becomes a function</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Example</a:t>
            </a:r>
          </a:p>
        </p:txBody>
      </p:sp>
      <p:sp>
        <p:nvSpPr>
          <p:cNvPr id="3" name="TextBox 2"/>
          <p:cNvSpPr txBox="1"/>
          <p:nvPr/>
        </p:nvSpPr>
        <p:spPr>
          <a:xfrm>
            <a:off x="457200" y="1097280"/>
            <a:ext cx="8229600" cy="3840480"/>
          </a:xfrm>
          <a:prstGeom prst="rect">
            <a:avLst/>
          </a:prstGeom>
          <a:solidFill>
            <a:srgbClr val="F5F5F5"/>
          </a:solidFill>
        </p:spPr>
        <p:txBody>
          <a:bodyPr wrap="none" tIns="91440" bIns="91440">
            <a:spAutoFit/>
          </a:bodyPr>
          <a:lstStyle/>
          <a:p>
            <a:pPr>
              <a:defRPr sz="900">
                <a:solidFill>
                  <a:srgbClr val="000000"/>
                </a:solidFill>
                <a:latin typeface="Consolas"/>
              </a:defRPr>
            </a:pPr>
            <a:r>
              <a:t>#include &lt;iostream&gt;</a:t>
            </a:r>
          </a:p>
          <a:p>
            <a:pPr>
              <a:defRPr sz="900">
                <a:solidFill>
                  <a:srgbClr val="000000"/>
                </a:solidFill>
                <a:latin typeface="Consolas"/>
              </a:defRPr>
            </a:pPr>
            <a:r>
              <a:t>#include &lt;vector&gt;</a:t>
            </a:r>
          </a:p>
          <a:p>
            <a:pPr>
              <a:defRPr sz="900">
                <a:solidFill>
                  <a:srgbClr val="000000"/>
                </a:solidFill>
                <a:latin typeface="Consolas"/>
              </a:defRPr>
            </a:pPr>
            <a:r>
              <a:t>using namespace std;</a:t>
            </a:r>
          </a:p>
          <a:p>
            <a:pPr>
              <a:defRPr sz="900">
                <a:solidFill>
                  <a:srgbClr val="000000"/>
                </a:solidFill>
                <a:latin typeface="Consolas"/>
              </a:defRPr>
            </a:pPr>
            <a:endParaRPr/>
          </a:p>
          <a:p>
            <a:pPr>
              <a:defRPr sz="900">
                <a:solidFill>
                  <a:srgbClr val="000000"/>
                </a:solidFill>
                <a:latin typeface="Consolas"/>
              </a:defRPr>
            </a:pPr>
            <a:r>
              <a:t>// Function declarations</a:t>
            </a:r>
          </a:p>
          <a:p>
            <a:pPr>
              <a:defRPr sz="900">
                <a:solidFill>
                  <a:srgbClr val="000000"/>
                </a:solidFill>
                <a:latin typeface="Consolas"/>
              </a:defRPr>
            </a:pPr>
            <a:r>
              <a:t>double calculateAverage(vector&lt;int&gt; scores);</a:t>
            </a:r>
          </a:p>
          <a:p>
            <a:pPr>
              <a:defRPr sz="900">
                <a:solidFill>
                  <a:srgbClr val="000000"/>
                </a:solidFill>
                <a:latin typeface="Consolas"/>
              </a:defRPr>
            </a:pPr>
            <a:r>
              <a:t>void displayScores(vector&lt;int&gt; scores);</a:t>
            </a:r>
          </a:p>
          <a:p>
            <a:pPr>
              <a:defRPr sz="900">
                <a:solidFill>
                  <a:srgbClr val="000000"/>
                </a:solidFill>
                <a:latin typeface="Consolas"/>
              </a:defRPr>
            </a:pPr>
            <a:r>
              <a:t>int findHighest(vector&lt;int&gt; scores);</a:t>
            </a:r>
          </a:p>
          <a:p>
            <a:pPr>
              <a:defRPr sz="900">
                <a:solidFill>
                  <a:srgbClr val="000000"/>
                </a:solidFill>
                <a:latin typeface="Consolas"/>
              </a:defRPr>
            </a:pPr>
            <a:endParaRPr/>
          </a:p>
          <a:p>
            <a:pPr>
              <a:defRPr sz="900">
                <a:solidFill>
                  <a:srgbClr val="000000"/>
                </a:solidFill>
                <a:latin typeface="Consolas"/>
              </a:defRPr>
            </a:pPr>
            <a:r>
              <a:t>int main() {</a:t>
            </a:r>
          </a:p>
          <a:p>
            <a:pPr>
              <a:defRPr sz="900">
                <a:solidFill>
                  <a:srgbClr val="000000"/>
                </a:solidFill>
                <a:latin typeface="Consolas"/>
              </a:defRPr>
            </a:pPr>
            <a:r>
              <a:t>    vector&lt;int&gt; scores = {85, 92, 78, 95, 88};</a:t>
            </a:r>
          </a:p>
          <a:p>
            <a:pPr>
              <a:defRPr sz="900">
                <a:solidFill>
                  <a:srgbClr val="000000"/>
                </a:solidFill>
                <a:latin typeface="Consolas"/>
              </a:defRPr>
            </a:pPr>
            <a:endParaRPr/>
          </a:p>
          <a:p>
            <a:pPr>
              <a:defRPr sz="900">
                <a:solidFill>
                  <a:srgbClr val="000000"/>
                </a:solidFill>
                <a:latin typeface="Consolas"/>
              </a:defRPr>
            </a:pPr>
            <a:r>
              <a:t>    displayScores(scores);</a:t>
            </a:r>
          </a:p>
          <a:p>
            <a:pPr>
              <a:defRPr sz="900">
                <a:solidFill>
                  <a:srgbClr val="000000"/>
                </a:solidFill>
                <a:latin typeface="Consolas"/>
              </a:defRPr>
            </a:pPr>
            <a:r>
              <a:t>    cout &lt;&lt; "Average: " &lt;&lt; calculateAverage(scores) &lt;&lt; endl;</a:t>
            </a:r>
          </a:p>
          <a:p>
            <a:pPr>
              <a:defRPr sz="900">
                <a:solidFill>
                  <a:srgbClr val="000000"/>
                </a:solidFill>
                <a:latin typeface="Consolas"/>
              </a:defRPr>
            </a:pPr>
            <a:r>
              <a:t>    cout &lt;&lt; "Highest: " &lt;&lt; findHighest(scores) &lt;&lt; endl;</a:t>
            </a:r>
          </a:p>
          <a:p>
            <a:pPr>
              <a:defRPr sz="900">
                <a:solidFill>
                  <a:srgbClr val="000000"/>
                </a:solidFill>
                <a:latin typeface="Consolas"/>
              </a:defRPr>
            </a:pPr>
            <a:endParaRPr/>
          </a:p>
          <a:p>
            <a:pPr>
              <a:defRPr sz="900">
                <a:solidFill>
                  <a:srgbClr val="000000"/>
                </a:solidFill>
                <a:latin typeface="Consolas"/>
              </a:defRPr>
            </a:pPr>
            <a:r>
              <a:t>    return 0;</a:t>
            </a:r>
          </a:p>
          <a:p>
            <a:pPr>
              <a:defRPr sz="900">
                <a:solidFill>
                  <a:srgbClr val="000000"/>
                </a:solidFill>
                <a:latin typeface="Consolas"/>
              </a:defRPr>
            </a:pPr>
            <a:r>
              <a:t>}</a:t>
            </a:r>
          </a:p>
          <a:p>
            <a:pPr>
              <a:defRPr sz="900">
                <a:solidFill>
                  <a:srgbClr val="000000"/>
                </a:solidFill>
                <a:latin typeface="Consolas"/>
              </a:defRPr>
            </a:pPr>
            <a:endParaRPr/>
          </a:p>
          <a:p>
            <a:pPr>
              <a:defRPr sz="900">
                <a:solidFill>
                  <a:srgbClr val="000000"/>
                </a:solidFill>
                <a:latin typeface="Consolas"/>
              </a:defRPr>
            </a:pPr>
            <a:r>
              <a:t>double calculateAverage(vector&lt;int&gt; scores) {</a:t>
            </a:r>
          </a:p>
          <a:p>
            <a:pPr>
              <a:defRPr sz="900">
                <a:solidFill>
                  <a:srgbClr val="000000"/>
                </a:solidFill>
                <a:latin typeface="Consolas"/>
              </a:defRPr>
            </a:pPr>
            <a:r>
              <a:t>    int total = 0;</a:t>
            </a:r>
          </a:p>
          <a:p>
            <a:pPr>
              <a:defRPr sz="900">
                <a:solidFill>
                  <a:srgbClr val="000000"/>
                </a:solidFill>
                <a:latin typeface="Consolas"/>
              </a:defRPr>
            </a:pPr>
            <a:r>
              <a:t>    for (int score : scores) {</a:t>
            </a:r>
          </a:p>
          <a:p>
            <a:pPr>
              <a:defRPr sz="900">
                <a:solidFill>
                  <a:srgbClr val="000000"/>
                </a:solidFill>
                <a:latin typeface="Consolas"/>
              </a:defRPr>
            </a:pPr>
            <a:r>
              <a:t>        total += score;</a:t>
            </a:r>
          </a:p>
          <a:p>
            <a:pPr>
              <a:defRPr sz="900">
                <a:solidFill>
                  <a:srgbClr val="000000"/>
                </a:solidFill>
                <a:latin typeface="Consolas"/>
              </a:defRPr>
            </a:pPr>
            <a:r>
              <a:t>    }</a:t>
            </a:r>
          </a:p>
          <a:p>
            <a:pPr>
              <a:defRPr sz="900">
                <a:solidFill>
                  <a:srgbClr val="000000"/>
                </a:solidFill>
                <a:latin typeface="Consolas"/>
              </a:defRPr>
            </a:pPr>
            <a:r>
              <a:t>    return static_cast&lt;double&gt;(total) / scores.size();</a:t>
            </a:r>
          </a:p>
          <a:p>
            <a:pPr>
              <a:defRPr sz="900">
                <a:solidFill>
                  <a:srgbClr val="000000"/>
                </a:solidFill>
                <a:latin typeface="Consolas"/>
              </a:defRPr>
            </a:pPr>
            <a:r>
              <a:t>}</a:t>
            </a:r>
          </a:p>
          <a:p>
            <a:pPr>
              <a:defRPr sz="900">
                <a:solidFill>
                  <a:srgbClr val="000000"/>
                </a:solidFill>
                <a:latin typeface="Consolas"/>
              </a:defRPr>
            </a:pPr>
            <a:endParaRPr/>
          </a:p>
          <a:p>
            <a:pPr>
              <a:defRPr sz="900">
                <a:solidFill>
                  <a:srgbClr val="000000"/>
                </a:solidFill>
                <a:latin typeface="Consolas"/>
              </a:defRPr>
            </a:pPr>
            <a:r>
              <a:t>void displayScores(vector&lt;int&gt; scores) {</a:t>
            </a:r>
          </a:p>
          <a:p>
            <a:pPr>
              <a:defRPr sz="900">
                <a:solidFill>
                  <a:srgbClr val="000000"/>
                </a:solidFill>
                <a:latin typeface="Consolas"/>
              </a:defRPr>
            </a:pPr>
            <a:r>
              <a:t>    for (int score : scores) {</a:t>
            </a:r>
          </a:p>
          <a:p>
            <a:pPr>
              <a:defRPr sz="900">
                <a:solidFill>
                  <a:srgbClr val="000000"/>
                </a:solidFill>
                <a:latin typeface="Consolas"/>
              </a:defRPr>
            </a:pPr>
            <a:r>
              <a:t>        cout &lt;&lt; score &lt;&lt; " ";</a:t>
            </a:r>
          </a:p>
          <a:p>
            <a:pPr>
              <a:defRPr sz="900">
                <a:solidFill>
                  <a:srgbClr val="000000"/>
                </a:solidFill>
                <a:latin typeface="Consolas"/>
              </a:defRPr>
            </a:pPr>
            <a:r>
              <a:t>    }</a:t>
            </a:r>
          </a:p>
          <a:p>
            <a:pPr>
              <a:defRPr sz="900">
                <a:solidFill>
                  <a:srgbClr val="000000"/>
                </a:solidFill>
                <a:latin typeface="Consolas"/>
              </a:defRPr>
            </a:pPr>
            <a:r>
              <a:t>    cout &lt;&lt; endl;</a:t>
            </a:r>
          </a:p>
          <a:p>
            <a:pPr>
              <a:defRPr sz="900">
                <a:solidFill>
                  <a:srgbClr val="000000"/>
                </a:solidFill>
                <a:latin typeface="Consolas"/>
              </a:defRPr>
            </a:pPr>
            <a:r>
              <a:t>}</a:t>
            </a:r>
          </a:p>
          <a:p>
            <a:pPr>
              <a:defRPr sz="900">
                <a:solidFill>
                  <a:srgbClr val="000000"/>
                </a:solidFill>
                <a:latin typeface="Consolas"/>
              </a:defRPr>
            </a:pPr>
            <a:endParaRPr/>
          </a:p>
          <a:p>
            <a:pPr>
              <a:defRPr sz="900">
                <a:solidFill>
                  <a:srgbClr val="000000"/>
                </a:solidFill>
                <a:latin typeface="Consolas"/>
              </a:defRPr>
            </a:pPr>
            <a:r>
              <a:t>int findHighest(vector&lt;int&gt; scores) {</a:t>
            </a:r>
          </a:p>
          <a:p>
            <a:pPr>
              <a:defRPr sz="900">
                <a:solidFill>
                  <a:srgbClr val="000000"/>
                </a:solidFill>
                <a:latin typeface="Consolas"/>
              </a:defRPr>
            </a:pPr>
            <a:r>
              <a:t>    int highest = scores[0];</a:t>
            </a:r>
          </a:p>
          <a:p>
            <a:pPr>
              <a:defRPr sz="900">
                <a:solidFill>
                  <a:srgbClr val="000000"/>
                </a:solidFill>
                <a:latin typeface="Consolas"/>
              </a:defRPr>
            </a:pPr>
            <a:r>
              <a:t>    for (int score : scores) {</a:t>
            </a:r>
          </a:p>
          <a:p>
            <a:pPr>
              <a:defRPr sz="900">
                <a:solidFill>
                  <a:srgbClr val="000000"/>
                </a:solidFill>
                <a:latin typeface="Consolas"/>
              </a:defRPr>
            </a:pPr>
            <a:r>
              <a:t>        if (score &gt; highest) {</a:t>
            </a:r>
          </a:p>
          <a:p>
            <a:pPr>
              <a:defRPr sz="900">
                <a:solidFill>
                  <a:srgbClr val="000000"/>
                </a:solidFill>
                <a:latin typeface="Consolas"/>
              </a:defRPr>
            </a:pPr>
            <a:r>
              <a:t>            highest = score;</a:t>
            </a:r>
          </a:p>
          <a:p>
            <a:pPr>
              <a:defRPr sz="900">
                <a:solidFill>
                  <a:srgbClr val="000000"/>
                </a:solidFill>
                <a:latin typeface="Consolas"/>
              </a:defRPr>
            </a:pPr>
            <a:r>
              <a:t>        }</a:t>
            </a:r>
          </a:p>
          <a:p>
            <a:pPr>
              <a:defRPr sz="900">
                <a:solidFill>
                  <a:srgbClr val="000000"/>
                </a:solidFill>
                <a:latin typeface="Consolas"/>
              </a:defRPr>
            </a:pPr>
            <a:r>
              <a:t>    }</a:t>
            </a:r>
          </a:p>
          <a:p>
            <a:pPr>
              <a:defRPr sz="900">
                <a:solidFill>
                  <a:srgbClr val="000000"/>
                </a:solidFill>
                <a:latin typeface="Consolas"/>
              </a:defRPr>
            </a:pPr>
            <a:r>
              <a:t>    return highest;</a:t>
            </a:r>
          </a:p>
          <a:p>
            <a:pPr>
              <a:defRPr sz="9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Use Cases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Introductory programming courses</a:t>
            </a:r>
          </a:p>
          <a:p>
            <a:pPr>
              <a:defRPr sz="1400">
                <a:solidFill>
                  <a:srgbClr val="000000"/>
                </a:solidFill>
              </a:defRPr>
            </a:pPr>
            <a:r>
              <a:t>Simple, straightforward problems</a:t>
            </a:r>
          </a:p>
          <a:p>
            <a:pPr>
              <a:defRPr sz="1400">
                <a:solidFill>
                  <a:srgbClr val="000000"/>
                </a:solidFill>
              </a:defRPr>
            </a:pPr>
            <a:r>
              <a:t>Mathematical computations</a:t>
            </a:r>
          </a:p>
          <a:p>
            <a:pPr>
              <a:defRPr sz="1400">
                <a:solidFill>
                  <a:srgbClr val="000000"/>
                </a:solidFill>
              </a:defRPr>
            </a:pPr>
            <a:r>
              <a:t>Small to medium programs</a:t>
            </a:r>
          </a:p>
          <a:p>
            <a:pPr>
              <a:defRPr sz="1400">
                <a:solidFill>
                  <a:srgbClr val="000000"/>
                </a:solidFill>
              </a:defRPr>
            </a:pPr>
            <a:r>
              <a:t>Scripts and utilities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Anti-Use Cases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Large, complex systems</a:t>
            </a:r>
          </a:p>
          <a:p>
            <a:pPr>
              <a:defRPr sz="1400">
                <a:solidFill>
                  <a:srgbClr val="000000"/>
                </a:solidFill>
              </a:defRPr>
            </a:pPr>
            <a:r>
              <a:t>Programs modeling real-world entities</a:t>
            </a:r>
          </a:p>
          <a:p>
            <a:pPr>
              <a:defRPr sz="1400">
                <a:solidFill>
                  <a:srgbClr val="000000"/>
                </a:solidFill>
              </a:defRPr>
            </a:pPr>
            <a:r>
              <a:t>Systems requiring data encapsulation</a:t>
            </a:r>
          </a:p>
          <a:p>
            <a:pPr>
              <a:defRPr sz="1400">
                <a:solidFill>
                  <a:srgbClr val="000000"/>
                </a:solidFill>
              </a:defRPr>
            </a:pPr>
            <a:r>
              <a:t>Projects with many developers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Conceptual Process</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Here’s some code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3840480"/>
          </a:xfrm>
          <a:prstGeom prst="rect">
            <a:avLst/>
          </a:prstGeom>
          <a:noFill/>
        </p:spPr>
        <p:txBody>
          <a:bodyPr wrap="square">
            <a:spAutoFit/>
          </a:bodyPr>
          <a:lstStyle/>
          <a:p>
            <a:pPr>
              <a:defRPr sz="1400">
                <a:solidFill>
                  <a:srgbClr val="000000"/>
                </a:solidFill>
              </a:defRPr>
            </a:pPr>
            <a:r>
              <a:t>Say several sections repeat</a:t>
            </a:r>
          </a:p>
          <a:p>
            <a:pPr>
              <a:defRPr sz="1400">
                <a:solidFill>
                  <a:srgbClr val="000000"/>
                </a:solidFill>
              </a:defRPr>
            </a:pPr>
            <a:r>
              <a:t>This duplicate code will diverge at some point.</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Solution</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Pull the duplicated code out.</a:t>
            </a:r>
          </a:p>
          <a:p>
            <a:pPr>
              <a:defRPr sz="1400">
                <a:solidFill>
                  <a:srgbClr val="000000"/>
                </a:solidFill>
              </a:defRPr>
            </a:pPr>
            <a:r>
              <a:t>Give it a name.</a:t>
            </a:r>
          </a:p>
          <a:p>
            <a:pPr>
              <a:defRPr sz="1400">
                <a:solidFill>
                  <a:srgbClr val="000000"/>
                </a:solidFill>
              </a:defRPr>
            </a:pPr>
            <a:r>
              <a:t>Call the duplicated code in the main part of the program.</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Full Solution</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Coding Functions</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How We Create Functions</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Creating a Function</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6-1.cpp -- Demo of functions</a:t>
            </a:r>
          </a:p>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 Function Prototype</a:t>
            </a:r>
          </a:p>
          <a:p>
            <a:pPr>
              <a:defRPr sz="1200">
                <a:solidFill>
                  <a:srgbClr val="000000"/>
                </a:solidFill>
                <a:latin typeface="Consolas"/>
              </a:defRPr>
            </a:pPr>
            <a:r>
              <a:t>void DisplayMessage();</a:t>
            </a:r>
          </a:p>
          <a:p>
            <a:pPr>
              <a:defRPr sz="1200">
                <a:solidFill>
                  <a:srgbClr val="000000"/>
                </a:solidFill>
                <a:latin typeface="Consolas"/>
              </a:defRPr>
            </a:pPr>
            <a:endParaRPr/>
          </a:p>
          <a:p>
            <a:pPr>
              <a:defRPr sz="1200">
                <a:solidFill>
                  <a:srgbClr val="000000"/>
                </a:solidFill>
                <a:latin typeface="Consolas"/>
              </a:defRPr>
            </a:pPr>
            <a:r>
              <a:t>int main() {                          // function 1</a:t>
            </a:r>
          </a:p>
          <a:p>
            <a:pPr>
              <a:defRPr sz="1200">
                <a:solidFill>
                  <a:srgbClr val="000000"/>
                </a:solidFill>
                <a:latin typeface="Consolas"/>
              </a:defRPr>
            </a:pPr>
            <a:r>
              <a:t>    cout &lt;&lt; "Hello from main()\n";</a:t>
            </a:r>
          </a:p>
          <a:p>
            <a:pPr>
              <a:defRPr sz="1200">
                <a:solidFill>
                  <a:srgbClr val="000000"/>
                </a:solidFill>
                <a:latin typeface="Consolas"/>
              </a:defRPr>
            </a:pPr>
            <a:r>
              <a:t>    DisplayMessage();                 // call function 2</a:t>
            </a:r>
          </a:p>
          <a:p>
            <a:pPr>
              <a:defRPr sz="1200">
                <a:solidFill>
                  <a:srgbClr val="000000"/>
                </a:solidFill>
                <a:latin typeface="Consolas"/>
              </a:defRPr>
            </a:pPr>
            <a:r>
              <a:t>    cout &lt;&lt; "Hello from main() again\n";</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void DisplayMessage() {</a:t>
            </a:r>
          </a:p>
          <a:p>
            <a:pPr>
              <a:defRPr sz="1200">
                <a:solidFill>
                  <a:srgbClr val="000000"/>
                </a:solidFill>
                <a:latin typeface="Consolas"/>
              </a:defRPr>
            </a:pPr>
            <a:r>
              <a:t>    cout &lt;&lt; "Hello from DisplayMessage()\n";</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Prototype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a:t>
            </a:r>
          </a:p>
          <a:p>
            <a:pPr>
              <a:defRPr sz="1400">
                <a:solidFill>
                  <a:srgbClr val="000000"/>
                </a:solidFill>
              </a:defRPr>
            </a:pPr>
            <a:r>
              <a:t>A function prototype eliminates the need to place a function definition before all calls to the function.</a:t>
            </a:r>
          </a:p>
          <a:p>
            <a:pPr>
              <a:defRPr sz="1400">
                <a:solidFill>
                  <a:srgbClr val="000000"/>
                </a:solidFill>
              </a:defRPr>
            </a:pPr>
            <a:r>
              <a:t>”</a:t>
            </a:r>
          </a:p>
          <a:p>
            <a:pPr>
              <a:defRPr sz="1400">
                <a:solidFill>
                  <a:srgbClr val="000000"/>
                </a:solidFill>
              </a:defRPr>
            </a:pPr>
            <a:r>
              <a:t>– Textbook, p.332.</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Prototype Example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6-1.cpp -- Demo of functions</a:t>
            </a:r>
          </a:p>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 Function Prototype</a:t>
            </a:r>
          </a:p>
          <a:p>
            <a:pPr>
              <a:defRPr sz="1200">
                <a:solidFill>
                  <a:srgbClr val="000000"/>
                </a:solidFill>
                <a:latin typeface="Consolas"/>
              </a:defRPr>
            </a:pPr>
            <a:r>
              <a:t>void DisplayMessage();</a:t>
            </a:r>
          </a:p>
          <a:p>
            <a:pPr>
              <a:defRPr sz="1200">
                <a:solidFill>
                  <a:srgbClr val="000000"/>
                </a:solidFill>
                <a:latin typeface="Consolas"/>
              </a:defRPr>
            </a:pPr>
            <a:endParaRPr/>
          </a:p>
          <a:p>
            <a:pPr>
              <a:defRPr sz="1200">
                <a:solidFill>
                  <a:srgbClr val="000000"/>
                </a:solidFill>
                <a:latin typeface="Consolas"/>
              </a:defRPr>
            </a:pPr>
            <a:r>
              <a:t>int main() {                 // function 1</a:t>
            </a:r>
          </a:p>
          <a:p>
            <a:pPr>
              <a:defRPr sz="1200">
                <a:solidFill>
                  <a:srgbClr val="000000"/>
                </a:solidFill>
                <a:latin typeface="Consolas"/>
              </a:defRPr>
            </a:pPr>
            <a:r>
              <a:t>    cout &lt;&lt; "Hello from main()\n";</a:t>
            </a:r>
          </a:p>
          <a:p>
            <a:pPr>
              <a:defRPr sz="1200">
                <a:solidFill>
                  <a:srgbClr val="000000"/>
                </a:solidFill>
                <a:latin typeface="Consolas"/>
              </a:defRPr>
            </a:pPr>
            <a:r>
              <a:t>    DisplayMessage();        // call function 2</a:t>
            </a:r>
          </a:p>
          <a:p>
            <a:pPr>
              <a:defRPr sz="1200">
                <a:solidFill>
                  <a:srgbClr val="000000"/>
                </a:solidFill>
                <a:latin typeface="Consolas"/>
              </a:defRPr>
            </a:pPr>
            <a:r>
              <a:t>    cout &lt;&lt; "Hello from main() again\n";</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void DisplayMessage() {</a:t>
            </a:r>
          </a:p>
          <a:p>
            <a:pPr>
              <a:defRPr sz="1200">
                <a:solidFill>
                  <a:srgbClr val="000000"/>
                </a:solidFill>
                <a:latin typeface="Consolas"/>
              </a:defRPr>
            </a:pPr>
            <a:r>
              <a:t>    cout &lt;&lt; "Hello from DisplayMessage()\n";</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Where’s the code?</a:t>
            </a:r>
          </a:p>
        </p:txBody>
      </p:sp>
      <p:sp>
        <p:nvSpPr>
          <p:cNvPr id="3" name="TextBox 2"/>
          <p:cNvSpPr txBox="1"/>
          <p:nvPr/>
        </p:nvSpPr>
        <p:spPr>
          <a:xfrm>
            <a:off x="457200" y="1097280"/>
            <a:ext cx="8229600" cy="3200400"/>
          </a:xfrm>
          <a:prstGeom prst="rect">
            <a:avLst/>
          </a:prstGeom>
          <a:solidFill>
            <a:srgbClr val="F5F5F5"/>
          </a:solidFill>
        </p:spPr>
        <p:txBody>
          <a:bodyPr wrap="none" tIns="91440" bIns="91440">
            <a:spAutoFit/>
          </a:bodyPr>
          <a:lstStyle/>
          <a:p>
            <a:pPr>
              <a:defRPr sz="1200">
                <a:solidFill>
                  <a:srgbClr val="000000"/>
                </a:solidFill>
                <a:latin typeface="Consolas"/>
              </a:defRPr>
            </a:pPr>
            <a:r>
              <a:t>// 6-1.cpp -- Demo of functions</a:t>
            </a:r>
          </a:p>
          <a:p>
            <a:pPr>
              <a:defRPr sz="1200">
                <a:solidFill>
                  <a:srgbClr val="000000"/>
                </a:solidFill>
                <a:latin typeface="Consolas"/>
              </a:defRPr>
            </a:pPr>
            <a:r>
              <a:t>#include &lt;iostream&gt;</a:t>
            </a:r>
          </a:p>
          <a:p>
            <a:pPr>
              <a:defRPr sz="1200">
                <a:solidFill>
                  <a:srgbClr val="000000"/>
                </a:solidFill>
                <a:latin typeface="Consolas"/>
              </a:defRPr>
            </a:pPr>
            <a:r>
              <a:t>using namespace std;</a:t>
            </a:r>
          </a:p>
          <a:p>
            <a:pPr>
              <a:defRPr sz="1200">
                <a:solidFill>
                  <a:srgbClr val="000000"/>
                </a:solidFill>
                <a:latin typeface="Consolas"/>
              </a:defRPr>
            </a:pPr>
            <a:endParaRPr/>
          </a:p>
          <a:p>
            <a:pPr>
              <a:defRPr sz="1200">
                <a:solidFill>
                  <a:srgbClr val="000000"/>
                </a:solidFill>
                <a:latin typeface="Consolas"/>
              </a:defRPr>
            </a:pPr>
            <a:r>
              <a:t>// Function Prototype</a:t>
            </a:r>
          </a:p>
          <a:p>
            <a:pPr>
              <a:defRPr sz="1200">
                <a:solidFill>
                  <a:srgbClr val="000000"/>
                </a:solidFill>
                <a:latin typeface="Consolas"/>
              </a:defRPr>
            </a:pPr>
            <a:r>
              <a:t>void DisplayMessage();</a:t>
            </a:r>
          </a:p>
          <a:p>
            <a:pPr>
              <a:defRPr sz="1200">
                <a:solidFill>
                  <a:srgbClr val="000000"/>
                </a:solidFill>
                <a:latin typeface="Consolas"/>
              </a:defRPr>
            </a:pPr>
            <a:endParaRPr/>
          </a:p>
          <a:p>
            <a:pPr>
              <a:defRPr sz="1200">
                <a:solidFill>
                  <a:srgbClr val="000000"/>
                </a:solidFill>
                <a:latin typeface="Consolas"/>
              </a:defRPr>
            </a:pPr>
            <a:r>
              <a:t>int main() {                 // function 1</a:t>
            </a:r>
          </a:p>
          <a:p>
            <a:pPr>
              <a:defRPr sz="1200">
                <a:solidFill>
                  <a:srgbClr val="000000"/>
                </a:solidFill>
                <a:latin typeface="Consolas"/>
              </a:defRPr>
            </a:pPr>
            <a:r>
              <a:t>    cout &lt;&lt; "Hello from main()\n";</a:t>
            </a:r>
          </a:p>
          <a:p>
            <a:pPr>
              <a:defRPr sz="1200">
                <a:solidFill>
                  <a:srgbClr val="000000"/>
                </a:solidFill>
                <a:latin typeface="Consolas"/>
              </a:defRPr>
            </a:pPr>
            <a:r>
              <a:t>    DisplayMessage();        // call function 2</a:t>
            </a:r>
          </a:p>
          <a:p>
            <a:pPr>
              <a:defRPr sz="1200">
                <a:solidFill>
                  <a:srgbClr val="000000"/>
                </a:solidFill>
                <a:latin typeface="Consolas"/>
              </a:defRPr>
            </a:pPr>
            <a:r>
              <a:t>    cout &lt;&lt; "Hello from main() again\n";</a:t>
            </a:r>
          </a:p>
          <a:p>
            <a:pPr>
              <a:defRPr sz="1200">
                <a:solidFill>
                  <a:srgbClr val="000000"/>
                </a:solidFill>
                <a:latin typeface="Consolas"/>
              </a:defRPr>
            </a:pPr>
            <a:endParaRPr/>
          </a:p>
          <a:p>
            <a:pPr>
              <a:defRPr sz="1200">
                <a:solidFill>
                  <a:srgbClr val="000000"/>
                </a:solidFill>
                <a:latin typeface="Consolas"/>
              </a:defRPr>
            </a:pPr>
            <a:r>
              <a:t>    return 0;</a:t>
            </a:r>
          </a:p>
          <a:p>
            <a:pPr>
              <a:defRPr sz="1200">
                <a:solidFill>
                  <a:srgbClr val="000000"/>
                </a:solidFill>
                <a:latin typeface="Consolas"/>
              </a:defRPr>
            </a:pPr>
            <a:r>
              <a:t>}</a:t>
            </a:r>
          </a:p>
          <a:p>
            <a:pPr>
              <a:defRPr sz="1200">
                <a:solidFill>
                  <a:srgbClr val="000000"/>
                </a:solidFill>
                <a:latin typeface="Consolas"/>
              </a:defRPr>
            </a:pPr>
            <a:endParaRPr/>
          </a:p>
          <a:p>
            <a:pPr>
              <a:defRPr sz="1200">
                <a:solidFill>
                  <a:srgbClr val="000000"/>
                </a:solidFill>
                <a:latin typeface="Consolas"/>
              </a:defRPr>
            </a:pPr>
            <a:r>
              <a:t>void DisplayMessage() {</a:t>
            </a:r>
          </a:p>
          <a:p>
            <a:pPr>
              <a:defRPr sz="1200">
                <a:solidFill>
                  <a:srgbClr val="000000"/>
                </a:solidFill>
                <a:latin typeface="Consolas"/>
              </a:defRPr>
            </a:pPr>
            <a:r>
              <a:t>    cout &lt;&lt; "Hello from DisplayMessage()\n";</a:t>
            </a:r>
          </a:p>
          <a:p>
            <a:pPr>
              <a:defRPr sz="12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Location</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A function can go above or below main().</a:t>
            </a:r>
          </a:p>
          <a:p>
            <a:pPr>
              <a:defRPr sz="1400">
                <a:solidFill>
                  <a:srgbClr val="000000"/>
                </a:solidFill>
              </a:defRPr>
            </a:pPr>
            <a:r>
              <a:t>The style in this language is to place them below main() AND use function prototypes.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Function Calls in a Function</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endParaRPr/>
          </a:p>
          <a:p>
            <a:pPr>
              <a:defRPr sz="1000">
                <a:solidFill>
                  <a:srgbClr val="000000"/>
                </a:solidFill>
                <a:latin typeface="Consolas"/>
              </a:defRPr>
            </a:pPr>
            <a:r>
              <a:t>void Deeper() {</a:t>
            </a:r>
          </a:p>
          <a:p>
            <a:pPr>
              <a:defRPr sz="1000">
                <a:solidFill>
                  <a:srgbClr val="000000"/>
                </a:solidFill>
                <a:latin typeface="Consolas"/>
              </a:defRPr>
            </a:pPr>
            <a:r>
              <a:t>    cout &lt;&lt; "Now inside function Deeper()\n";</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void Deep() {</a:t>
            </a:r>
          </a:p>
          <a:p>
            <a:pPr>
              <a:defRPr sz="1000">
                <a:solidFill>
                  <a:srgbClr val="000000"/>
                </a:solidFill>
                <a:latin typeface="Consolas"/>
              </a:defRPr>
            </a:pPr>
            <a:r>
              <a:t>    cout &lt;&lt; "Hello from Deep()\n";</a:t>
            </a:r>
          </a:p>
          <a:p>
            <a:pPr>
              <a:defRPr sz="1000">
                <a:solidFill>
                  <a:srgbClr val="000000"/>
                </a:solidFill>
                <a:latin typeface="Consolas"/>
              </a:defRPr>
            </a:pPr>
            <a:r>
              <a:t>    Deeper();</a:t>
            </a:r>
          </a:p>
          <a:p>
            <a:pPr>
              <a:defRPr sz="1000">
                <a:solidFill>
                  <a:srgbClr val="000000"/>
                </a:solidFill>
                <a:latin typeface="Consolas"/>
              </a:defRPr>
            </a:pPr>
            <a:r>
              <a:t>    cout &lt;&lt; "Now back in Deep() again\n";</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int main() {                 // function 1</a:t>
            </a:r>
          </a:p>
          <a:p>
            <a:pPr>
              <a:defRPr sz="1000">
                <a:solidFill>
                  <a:srgbClr val="000000"/>
                </a:solidFill>
                <a:latin typeface="Consolas"/>
              </a:defRPr>
            </a:pPr>
            <a:r>
              <a:t>    cout &lt;&lt; "Hello from main()\n";</a:t>
            </a:r>
          </a:p>
          <a:p>
            <a:pPr>
              <a:defRPr sz="1000">
                <a:solidFill>
                  <a:srgbClr val="000000"/>
                </a:solidFill>
                <a:latin typeface="Consolas"/>
              </a:defRPr>
            </a:pPr>
            <a:r>
              <a:t>    Deep();</a:t>
            </a:r>
          </a:p>
          <a:p>
            <a:pPr>
              <a:defRPr sz="1000">
                <a:solidFill>
                  <a:srgbClr val="000000"/>
                </a:solidFill>
                <a:latin typeface="Consolas"/>
              </a:defRPr>
            </a:pPr>
            <a:r>
              <a:t>    cout &lt;&lt; "Hello from main() again\n";</a:t>
            </a:r>
          </a:p>
          <a:p>
            <a:pPr>
              <a:defRPr sz="1000">
                <a:solidFill>
                  <a:srgbClr val="000000"/>
                </a:solidFill>
                <a:latin typeface="Consolas"/>
              </a:defRPr>
            </a:pPr>
            <a:endParaRPr/>
          </a:p>
          <a:p>
            <a:pPr>
              <a:defRPr sz="1000">
                <a:solidFill>
                  <a:srgbClr val="000000"/>
                </a:solidFill>
                <a:latin typeface="Consolas"/>
              </a:defRPr>
            </a:pPr>
            <a:r>
              <a:t>    return 0;</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with Function Prototype</a:t>
            </a:r>
          </a:p>
        </p:txBody>
      </p:sp>
      <p:sp>
        <p:nvSpPr>
          <p:cNvPr id="3" name="TextBox 2"/>
          <p:cNvSpPr txBox="1"/>
          <p:nvPr/>
        </p:nvSpPr>
        <p:spPr>
          <a:xfrm>
            <a:off x="457200" y="1097280"/>
            <a:ext cx="8229600" cy="3474720"/>
          </a:xfrm>
          <a:prstGeom prst="rect">
            <a:avLst/>
          </a:prstGeom>
          <a:solidFill>
            <a:srgbClr val="F5F5F5"/>
          </a:solidFill>
        </p:spPr>
        <p:txBody>
          <a:bodyPr wrap="none" tIns="91440" bIns="91440">
            <a:spAutoFit/>
          </a:bodyPr>
          <a:lstStyle/>
          <a:p>
            <a:pPr>
              <a:defRPr sz="1000">
                <a:solidFill>
                  <a:srgbClr val="000000"/>
                </a:solidFill>
                <a:latin typeface="Consolas"/>
              </a:defRPr>
            </a:pPr>
            <a:r>
              <a:t>// 6-4.cpp -- Functions calling functions</a:t>
            </a:r>
          </a:p>
          <a:p>
            <a:pPr>
              <a:defRPr sz="1000">
                <a:solidFill>
                  <a:srgbClr val="000000"/>
                </a:solidFill>
                <a:latin typeface="Consolas"/>
              </a:defRPr>
            </a:pPr>
            <a:r>
              <a:t>#include &lt;iostream&gt;</a:t>
            </a:r>
          </a:p>
          <a:p>
            <a:pPr>
              <a:defRPr sz="1000">
                <a:solidFill>
                  <a:srgbClr val="000000"/>
                </a:solidFill>
                <a:latin typeface="Consolas"/>
              </a:defRPr>
            </a:pPr>
            <a:r>
              <a:t>using namespace std;</a:t>
            </a:r>
          </a:p>
          <a:p>
            <a:pPr>
              <a:defRPr sz="1000">
                <a:solidFill>
                  <a:srgbClr val="000000"/>
                </a:solidFill>
                <a:latin typeface="Consolas"/>
              </a:defRPr>
            </a:pPr>
            <a:endParaRPr/>
          </a:p>
          <a:p>
            <a:pPr>
              <a:defRPr sz="1000">
                <a:solidFill>
                  <a:srgbClr val="000000"/>
                </a:solidFill>
                <a:latin typeface="Consolas"/>
              </a:defRPr>
            </a:pPr>
            <a:r>
              <a:t>// Function Prototype</a:t>
            </a:r>
          </a:p>
          <a:p>
            <a:pPr>
              <a:defRPr sz="1000">
                <a:solidFill>
                  <a:srgbClr val="000000"/>
                </a:solidFill>
                <a:latin typeface="Consolas"/>
              </a:defRPr>
            </a:pPr>
            <a:r>
              <a:t>void Deep();</a:t>
            </a:r>
          </a:p>
          <a:p>
            <a:pPr>
              <a:defRPr sz="1000">
                <a:solidFill>
                  <a:srgbClr val="000000"/>
                </a:solidFill>
                <a:latin typeface="Consolas"/>
              </a:defRPr>
            </a:pPr>
            <a:r>
              <a:t>void Deeper();</a:t>
            </a:r>
          </a:p>
          <a:p>
            <a:pPr>
              <a:defRPr sz="1000">
                <a:solidFill>
                  <a:srgbClr val="000000"/>
                </a:solidFill>
                <a:latin typeface="Consolas"/>
              </a:defRPr>
            </a:pPr>
            <a:endParaRPr/>
          </a:p>
          <a:p>
            <a:pPr>
              <a:defRPr sz="1000">
                <a:solidFill>
                  <a:srgbClr val="000000"/>
                </a:solidFill>
                <a:latin typeface="Consolas"/>
              </a:defRPr>
            </a:pPr>
            <a:r>
              <a:t>int main() {</a:t>
            </a:r>
          </a:p>
          <a:p>
            <a:pPr>
              <a:defRPr sz="1000">
                <a:solidFill>
                  <a:srgbClr val="000000"/>
                </a:solidFill>
                <a:latin typeface="Consolas"/>
              </a:defRPr>
            </a:pPr>
            <a:r>
              <a:t>    cout &lt;&lt; "Hello from main()\n";</a:t>
            </a:r>
          </a:p>
          <a:p>
            <a:pPr>
              <a:defRPr sz="1000">
                <a:solidFill>
                  <a:srgbClr val="000000"/>
                </a:solidFill>
                <a:latin typeface="Consolas"/>
              </a:defRPr>
            </a:pPr>
            <a:r>
              <a:t>    Deep();</a:t>
            </a:r>
          </a:p>
          <a:p>
            <a:pPr>
              <a:defRPr sz="1000">
                <a:solidFill>
                  <a:srgbClr val="000000"/>
                </a:solidFill>
                <a:latin typeface="Consolas"/>
              </a:defRPr>
            </a:pPr>
            <a:r>
              <a:t>    cout &lt;&lt; "Hello from main() again\n";</a:t>
            </a:r>
          </a:p>
          <a:p>
            <a:pPr>
              <a:defRPr sz="1000">
                <a:solidFill>
                  <a:srgbClr val="000000"/>
                </a:solidFill>
                <a:latin typeface="Consolas"/>
              </a:defRPr>
            </a:pPr>
            <a:endParaRPr/>
          </a:p>
          <a:p>
            <a:pPr>
              <a:defRPr sz="1000">
                <a:solidFill>
                  <a:srgbClr val="000000"/>
                </a:solidFill>
                <a:latin typeface="Consolas"/>
              </a:defRPr>
            </a:pPr>
            <a:r>
              <a:t>    return 0;</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void Deep() {</a:t>
            </a:r>
          </a:p>
          <a:p>
            <a:pPr>
              <a:defRPr sz="1000">
                <a:solidFill>
                  <a:srgbClr val="000000"/>
                </a:solidFill>
                <a:latin typeface="Consolas"/>
              </a:defRPr>
            </a:pPr>
            <a:r>
              <a:t>    cout &lt;&lt; "Hello from Deep()\n";</a:t>
            </a:r>
          </a:p>
          <a:p>
            <a:pPr>
              <a:defRPr sz="1000">
                <a:solidFill>
                  <a:srgbClr val="000000"/>
                </a:solidFill>
                <a:latin typeface="Consolas"/>
              </a:defRPr>
            </a:pPr>
            <a:r>
              <a:t>    Deeper();</a:t>
            </a:r>
          </a:p>
          <a:p>
            <a:pPr>
              <a:defRPr sz="1000">
                <a:solidFill>
                  <a:srgbClr val="000000"/>
                </a:solidFill>
                <a:latin typeface="Consolas"/>
              </a:defRPr>
            </a:pPr>
            <a:r>
              <a:t>    cout &lt;&lt; "Now back in Deep() again\n";</a:t>
            </a:r>
          </a:p>
          <a:p>
            <a:pPr>
              <a:defRPr sz="1000">
                <a:solidFill>
                  <a:srgbClr val="000000"/>
                </a:solidFill>
                <a:latin typeface="Consolas"/>
              </a:defRPr>
            </a:pPr>
            <a:r>
              <a:t>}</a:t>
            </a:r>
          </a:p>
          <a:p>
            <a:pPr>
              <a:defRPr sz="1000">
                <a:solidFill>
                  <a:srgbClr val="000000"/>
                </a:solidFill>
                <a:latin typeface="Consolas"/>
              </a:defRPr>
            </a:pPr>
            <a:endParaRPr/>
          </a:p>
          <a:p>
            <a:pPr>
              <a:defRPr sz="1000">
                <a:solidFill>
                  <a:srgbClr val="000000"/>
                </a:solidFill>
                <a:latin typeface="Consolas"/>
              </a:defRPr>
            </a:pPr>
            <a:r>
              <a:t>void Deeper() {</a:t>
            </a:r>
          </a:p>
          <a:p>
            <a:pPr>
              <a:defRPr sz="1000">
                <a:solidFill>
                  <a:srgbClr val="000000"/>
                </a:solidFill>
                <a:latin typeface="Consolas"/>
              </a:defRPr>
            </a:pPr>
            <a:r>
              <a:t>    cout &lt;&lt; "Now inside function Deeper()\n";</a:t>
            </a:r>
          </a:p>
          <a:p>
            <a:pPr>
              <a:defRPr sz="1000">
                <a:solidFill>
                  <a:srgbClr val="000000"/>
                </a:solidFill>
                <a:latin typeface="Consolas"/>
              </a:defRPr>
            </a:pPr>
            <a:r>
              <a:t>}</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We can call but not define</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Notice we did not define a function inside another function, we just called it.</a:t>
            </a:r>
          </a:p>
          <a:p>
            <a:pPr>
              <a:defRPr sz="1400">
                <a:solidFill>
                  <a:srgbClr val="000000"/>
                </a:solidFill>
              </a:defRPr>
            </a:pPr>
            <a:r>
              <a:t>Defining a function inside a function is called</a:t>
            </a:r>
          </a:p>
          <a:p>
            <a:pPr>
              <a:defRPr sz="1400">
                <a:solidFill>
                  <a:srgbClr val="000000"/>
                </a:solidFill>
              </a:defRPr>
            </a:pPr>
            <a:r>
              <a:t>nesting</a:t>
            </a:r>
          </a:p>
          <a:p>
            <a:pPr>
              <a:defRPr sz="1400">
                <a:solidFill>
                  <a:srgbClr val="000000"/>
                </a:solidFill>
              </a:defRPr>
            </a:pPr>
            <a:r>
              <a:t>and is not allowed with functions in this language.</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Return of Void</a:t>
            </a:r>
          </a:p>
        </p:txBody>
      </p:sp>
      <p:sp>
        <p:nvSpPr>
          <p:cNvPr id="3" name="TextBox 2"/>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square">
            <a:spAutoFit/>
          </a:bodyPr>
          <a:lstStyle/>
          <a:p>
            <a:pPr algn="ctr">
              <a:defRPr sz="3600" b="1">
                <a:solidFill>
                  <a:srgbClr val="1E2761"/>
                </a:solidFill>
              </a:defRPr>
            </a:pPr>
            <a:r>
              <a:t>Remember void?</a:t>
            </a:r>
          </a:p>
        </p:txBody>
      </p:sp>
      <p:sp>
        <p:nvSpPr>
          <p:cNvPr id="3" name="TextBox 2"/>
          <p:cNvSpPr txBox="1"/>
          <p:nvPr/>
        </p:nvSpPr>
        <p:spPr>
          <a:xfrm>
            <a:off x="457200" y="1097280"/>
            <a:ext cx="8229600" cy="3017520"/>
          </a:xfrm>
          <a:prstGeom prst="rect">
            <a:avLst/>
          </a:prstGeom>
          <a:noFill/>
        </p:spPr>
        <p:txBody>
          <a:bodyPr wrap="square">
            <a:spAutoFit/>
          </a:bodyPr>
          <a:lstStyle/>
          <a:p>
            <a:pPr>
              <a:defRPr sz="1400">
                <a:solidFill>
                  <a:srgbClr val="000000"/>
                </a:solidFill>
              </a:defRPr>
            </a:pPr>
            <a:r>
              <a:t>We last saw void when we were looking at variable types.</a:t>
            </a:r>
          </a:p>
        </p:txBody>
      </p:sp>
      <p:sp>
        <p:nvSpPr>
          <p:cNvPr id="4" name="TextBox 3"/>
          <p:cNvSpPr txBox="1"/>
          <p:nvPr/>
        </p:nvSpPr>
        <p:spPr>
          <a:xfrm>
            <a:off x="8229600" y="4754880"/>
            <a:ext cx="457200" cy="274320"/>
          </a:xfrm>
          <a:prstGeom prst="rect">
            <a:avLst/>
          </a:prstGeom>
          <a:noFill/>
        </p:spPr>
        <p:txBody>
          <a:bodyPr wrap="none">
            <a:spAutoFit/>
          </a:bodyPr>
          <a:lstStyle/>
          <a:p>
            <a:pPr algn="r">
              <a:defRPr sz="1000">
                <a:solidFill>
                  <a:srgbClr val="808080"/>
                </a:solidFill>
              </a:defRPr>
            </a:pPr>
            <a: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4236</Words>
  <Application>Microsoft Macintosh PowerPoint</Application>
  <PresentationFormat>On-screen Show (16:9)</PresentationFormat>
  <Paragraphs>356</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Fowler, Caleb</cp:lastModifiedBy>
  <cp:revision>3</cp:revision>
  <dcterms:created xsi:type="dcterms:W3CDTF">2013-01-27T09:14:16Z</dcterms:created>
  <dcterms:modified xsi:type="dcterms:W3CDTF">2026-02-16T19:13:01Z</dcterms:modified>
  <cp:category/>
</cp:coreProperties>
</file>