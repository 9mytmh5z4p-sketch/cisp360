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306"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61" d="100"/>
          <a:sy n="161" d="100"/>
        </p:scale>
        <p:origin x="7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A2E7FB-8429-824C-A999-73A186BEB161}" type="datetimeFigureOut">
              <a:rPr lang="en-US" smtClean="0"/>
              <a:t>2/15/26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493F2-A912-A541-99B5-44D5D1257604}" type="slidenum">
              <a:rPr lang="en-US" smtClean="0"/>
              <a:t>‹#›</a:t>
            </a:fld>
            <a:endParaRPr lang="en-US"/>
          </a:p>
        </p:txBody>
      </p:sp>
    </p:spTree>
    <p:extLst>
      <p:ext uri="{BB962C8B-B14F-4D97-AF65-F5344CB8AC3E}">
        <p14:creationId xmlns:p14="http://schemas.microsoft.com/office/powerpoint/2010/main" val="104396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Parameters are the solution to our problem.Look at the function definition - inside the parentheses, we’ve declared a string variable called name. This is a parameter. When someone calls this function, they must provide a string value, and that value gets copied into this name parameter. Inside the function, name is just like any other variable - you can use it in expressions, print it, whatever you need. The key difference is that its value comes from the caller, not from code inside the function.Also notice that parameters only exist inside the function - they’re local to that function and disappear when the function ends.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distinction confuses many beginners, so let me be very clear: parameters versus arguments.Look at line 1: name is the PARAMETER - it’s the variable in the function definition, like a placeholder. Now look at line 7: “Alice” is the ARGUMENT - it’s the actual value we pass when calling the function.When you call displayName(“Alice”), the argument “Alice” is copied into the parameter name. Think of parameters as the formal specification - “I need a string” - and arguments as the actual data - “here’s Alice”. Students often mix these terms up, but now you know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complete example showing the power of parameters. We have one function, greet, but we call it three times with three different arguments. Each call copies its argument into the person parameter, and the function greets that person. One function, three different behaviors, all because we can pass in different data. This is the essence of reusable code - write once, use many times with different inputs.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you need multiple pieces of data, you can have multiple parameters. Notice in the function definition, we separate parameters with commas, and each parameter must have its own type specification. A common mistake: you can’t write “string name, price” - you must write “string name, double price”. Each parameter needs its type!Order is critical: when you call the function, your arguments must match the parameter order exactly. First argument goes to first parameter, second to second, and so on. Mix up the order and you’ll get compiler errors or runtime bugs.So remember: separate with commas, each gets a type, and order matters!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carefully at line 11 - this is correct. We pass a string for name, an int for age, and a double for gpa. They match in both order and type.Now look at line 12 - this will cause a compiler error! We’re trying to pass an int where a string is expected, and vice versa. The compiler checks these type matches and will refuse to compile code that doesn’t match.This type checking is one of C++’s safety features - it catches mistakes before your program even runs. Always ensure your arguments match the parameters in number, order, and type!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 prototypes become even more important when functions have parameters. The prototype must include all the parameter types in the correct order. The prototype tells the compiler “this function exists, it takes these types of parameters in this order, and it returns this type.” Then later in the file, you provide the full definition with the implementation.Prototypes are especially important when working with multiple files - you can put prototypes in a header file that gets included everywhere, while the implementations stay in separate source files. For now, just remember: prototype at the top with parameter types, definition below main with the actual code.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writing prototypes, you have a choice: you can include parameter names or just types. Technically the compiler only needs the types to check your function calls, so “double calculateAverage(double, double, double);” works. But this is much less readable than “double calculateAverage(double score1, double score2, double score3);”.The version with names is self-documenting - you can see what each parameter represents without looking at the implementation. Best practice is to include descriptive parameter names in your prototypes. They don’t have to exactly match the names in the definition, but usually they do because it would be confusing if they didn’t.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complete the picture: parameters let data flow into functions, and return values let data flow back out.Look at this add function. The return type is int - this means the function promises to compute and return an integer value. Inside the function, the return statement does two things: it computes a + b, and it sends that value back to whoever called the function.The return type in the function header must match the type of value you actually return. If you say you’re returning an int, you must return an int. The compiler enforces this match.Think of parameters as inputs and return values as outputs - together they make functions powerful, flexible tools for computation.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Return values are incredibly flexible - you can use them in multiple ways.Most commonly, you store the result in a variable, like line 8 does.Or you can use the function call directly in an expression, like line 11 - the function executes, returns its value, and that value gets inserted right into the expression.You can even nest function calls, like line 14.Let’s trace this: first add(2, 3) executes and returns 5. Then that 5 becomes an argument to the outer add call, so we’re computing add(5, 5), which returns 10. Then 10 gets printed. This demonstrates function composition - using the output of one function as the input to another. This is a powerful technique for building complex computations from simple functions.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compiler is strict about return types matching.In the first example, we’re returning 3.14 from a function declared to return int. The compiler will truncate it to 3 and usually give you a warning about losing precision.In the second example, returning 42 from a double function is fine - int converts safely to double as 42.0.In the third example, trying to return an int from a string function is a hard error - there’s no automatic conversion from int to string.The lesson is: pay attention to your return types and make sure what you return matches what you declared. The compiler’s type checking is trying to help you avoid bugs.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Functions can have multiple return statements - this is common when you have different cases or conditions.But here’s the key: once any return executes, the function immediately exits. The rest of the code doesn’t run.Trace through this grading function: if the score is 92, the first if condition is true, so we return ‘A’ and exit immediately. The other if statements never even execute.If the score is 75, the first two ifs are false, the third is true, so we return ‘C’ and exit.If the score is 50, all the ifs are false, so we reach the final return statement and return ‘F’.This pattern of multiple returns is very common for decision-making functions. Just remember: first return that executes ends the function.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show you what I call the round-trip method - this is THE most important pattern you’ll learn today. Look at line 7 in main: we declare age and initialize it to zero. Line 9 is where the magic happens - we call CalcYears with the argument true, and assign the return value to age.Let’s trace the round trip: execution jumps to line 14, the parameter isDog receives true. Line 15 checks if isDog is true - it is, so we return 7. That 7 travels back to line 9 and gets stored in age. Line 10 prints age, which is now 7.This pattern - send data out through arguments, get results back through return values - is absolutely fundamental. You’ll use this constantly. Data makes a round trip: out to the function, back with a result. Master this and you master function-based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visually shows the round trip: data flows from the caller into the function through parameters, the function computes a result, and that result flows back to the caller through the return value. This bidirectional data flow is what makes functions so powerful.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practical example of the round-trip method. We have a temperature in Celsius stored in tempC. We call celsiusToFahrenheit, passing tempC as the argument. The function receives it in the celsius parameter, performs the conversion calculation, and returns the Fahrenheit value. We capture that return value in tempF. Then we print both temperatures.This is a perfect example of functional decomposition - we’ve extracted the conversion formula into its own function with a descriptive name. Now we can convert temperatures anywhere in our program just by calling this function. Clean, reusable, self-documenting code.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another example showing multiple return statements. The determineGrade function takes a numeric average and returns a letter grade character. Notice how clean the logic is with multiple returns - we check each grade threshold and immediately return if we match. For an average of 87.5, the first two conditions are true, so we return ‘B’ and exit. This is efficient and readable. The round-trip is clear: we send 87.5 in, get ‘B’ back, store it in grade, and print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example brings everything together - the complete workflow of a well-designed program!Look at the prototypes: calculateAverage takes three scores and returns a double, determineGrade takes a double and returns a char, and displayResults is void taking multiple parameters. Now follow the flow in main: line 11 calculates the average, returning 88.333 which we store in avg. Line 12 calls determineGrade with that average, returning ‘B’ stored in grade. Line 13 calls displayResults to show everything.This is beautiful organization: main coordinates the high-level workflow by calling specialized functions, each function does one job well, and together they solve the complete problem. This IS structured, function-centric programming! Each function is simple because it has one clear job - calculateAverage adds and divides, determineGrade checks thresholds, displayResults formats output. This is how you should structure your programs!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test your understanding with an exercise. This is a chance to trace through code and predict what it will print.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goal of this exercise is twofold: first, to review and reinforce the syntax we’ve learned - function prototypes, function calls, parameters, and return values. Second, to check your understanding by having you trace through execution and predict output. This kind of code-reading skill is essential for debugging and understanding programs.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task is simple: read through the code carefully, trace the execution flow, and determine what will be printed. Think about what values get passed to parameters, what gets computed, and what gets returned.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 a moment to read through this code and think about what it will output.Notice we have a calculateArea function that computes the area of a circle given a radius. In main, we call it twice with different radii.Can you determine what will be printed? Think it through before we reveal the answer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answer.First, radius is 5.0, and we compute its area: 3.14 times 5 times 5 equals 78.5. We print “Radius: 5” and “Area: 78.5”.Then we create newRadius as 3.0 and call calculateArea directly in the cout statement. The function computes 3.14 times 3 times 3, which is 28.26, and that value gets printed immediately.Did you get it right? If so, excellent! If not, go back and trace through step by step. This kind of code tracing is an essential skill that will help you debug and understand programs throughout your career.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it’s time for you to practice! This is a hands-on coding exercise where you’ll apply everything we’ve learned today to build a complete program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You’re going to build a pizza order calculator - a practical program that demonstrates everything we’ve covered: function prototypes, void functions, functions with parameters, and functions that return values. The key is breaking the problem down into logical steps, with each step implemented as a function. This is exactly how professional programmers approach problems - divide and conquer.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break down the requirements.First, you need calculatePizzaCost - this takes a char parameter for size and returns a double. Use an if statement or switch to determine the price based on size.Second, calculateToppingsCost takes an int for number of toppings and returns the total cost. This is a simple multiplication: number times 1.50.</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calculateTotal takes two parameters - pizza cost and toppings cost - and returns their sum. Simple but demonstrates passing multiple parameters and returning a result.Finally, displayReceipt is a void function that takes three pieces of information and displays a nicely formatted receipt. This demonstrates void functions and working with multiple parameter types.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your output should look like. Notice the formatting - nice clean lines separating sections, and the dollar amount formatted with two decimal places. Use the iomanip library’s fixed and setprecision for proper dollar formatting. Your challenge is to make your output match this format exactly.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your implementation strategy. First, write all four prototypes at the top of your file - this declares what functions exist.Second, write main: create variables for size and toppings, then call your functions in the logical order - calculate pizza cost, calculate toppings cost, calculate total, display receipt. Think through what order makes sense.Third, implement each function below main. Start with the simplest ones and work up to the more complex ones. Test as you go - get one function working before moving to the next. This incremental approach will help you avoid bugs and make debugging easier.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your starter template. Notice we’ve included iomanip for formatting. Your job is to fill in the prototypes, implement main, and write all four function definitions. Remember the pattern: prototypes declare what exists, main coordinates the workflow, definitions provide the implementations.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tips to help you succeed:Don’t forget those prototypes - they must come before main.Use fixed and setprecision(2) to format dollar amounts correctly.Pay careful attention to argument order when calling functions - the order must match the parameter order.Start by testing with the given example - medium pizza with 3 toppings - so you can verify your output matches the expected output. Once that works, try other combinations to make sure your logic is sound.Take your time, think through the logic, and remember everything we’ve learned today. You’ve got this!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finish early and want an extra challenge, modify your program to read the pizza size and number of toppings from the user using cin. This adds interactivity to your program. You’ll need to add input validation to make sure they enter valid sizes and non-negative topping counts. This optional challenge will give you practice with user input and validation logic.</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wrap up with the key takeaways from today’s lecture.First, function-centric architecture is a design philosophy where functions are your primary organizational tool. You break big problems into smaller sub-problems, implement each as a function, and separate data from the operations on that data. This creates code that’s modular, maintainable, and understandable.Second, void functions are your tool for organizing code that performs actions without computing return values. They help you avoid code duplication, give meaningful names to code blocks, and keep your main logic clean and readable.Third, by combining parameters and return values, you create flexible, reusable functions. Parameters bring data in, return values send results back. Function prototypes let you organize your code with declarations at the top and implementations below main.These three concepts form the foundation of structured, function-based programming. Master them and you’ll be able to write clean, professional, maintainable code.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time, we’ll dive deeper into how functions work with variables and memory. We’ll explore the difference between local and global variables, understand variable scope in detail, and see how memory is managed when functions are called. This will complete your understanding of how functions really work under the hood.Great work today everyone! Make sure to practice with the pizza calculator exercise - hands-on coding is how these concepts really sink in. See you next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Parameters: Receiving Data</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displayName(string name) {</a:t>
            </a:r>
          </a:p>
          <a:p>
            <a:pPr>
              <a:defRPr sz="1200">
                <a:solidFill>
                  <a:srgbClr val="000000"/>
                </a:solidFill>
                <a:latin typeface="Consolas"/>
              </a:defRPr>
            </a:pPr>
            <a:r>
              <a:t>    cout &lt;&lt; "Hello, " &lt;&lt; name &lt;&lt; "!"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Arguments vs Parameters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displayName(string name) {     // name is a PARAMETER</a:t>
            </a:r>
          </a:p>
          <a:p>
            <a:pPr>
              <a:defRPr sz="1200">
                <a:solidFill>
                  <a:srgbClr val="000000"/>
                </a:solidFill>
                <a:latin typeface="Consolas"/>
              </a:defRPr>
            </a:pPr>
            <a:r>
              <a:t>    cout &lt;&lt; "Hello, " &lt;&lt; name &lt;&lt; "!"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displayName("Alice");           // "Alice" is an ARGUMENT</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Single Parameter Example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void greet(string person) {</a:t>
            </a:r>
          </a:p>
          <a:p>
            <a:pPr>
              <a:defRPr sz="1200">
                <a:solidFill>
                  <a:srgbClr val="000000"/>
                </a:solidFill>
                <a:latin typeface="Consolas"/>
              </a:defRPr>
            </a:pPr>
            <a:r>
              <a:t>    cout &lt;&lt; "Welcome, " &lt;&lt; person &lt;&lt; "!"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greet("Alice");</a:t>
            </a:r>
          </a:p>
          <a:p>
            <a:pPr>
              <a:defRPr sz="1200">
                <a:solidFill>
                  <a:srgbClr val="000000"/>
                </a:solidFill>
                <a:latin typeface="Consolas"/>
              </a:defRPr>
            </a:pPr>
            <a:r>
              <a:t>    greet("Bob");</a:t>
            </a:r>
          </a:p>
          <a:p>
            <a:pPr>
              <a:defRPr sz="1200">
                <a:solidFill>
                  <a:srgbClr val="000000"/>
                </a:solidFill>
                <a:latin typeface="Consolas"/>
              </a:defRPr>
            </a:pPr>
            <a:r>
              <a:t>    greet("Charlie");</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Multiple Parameters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displayProduct(string name, double price) {</a:t>
            </a:r>
          </a:p>
          <a:p>
            <a:pPr>
              <a:defRPr sz="1200">
                <a:solidFill>
                  <a:srgbClr val="000000"/>
                </a:solidFill>
                <a:latin typeface="Consolas"/>
              </a:defRPr>
            </a:pPr>
            <a:r>
              <a:t>    cout &lt;&lt; name &lt;&lt; " costs $" &lt;&lt; price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displayProduct("Laptop", 899.99);</a:t>
            </a:r>
          </a:p>
          <a:p>
            <a:pPr>
              <a:defRPr sz="1200">
                <a:solidFill>
                  <a:srgbClr val="000000"/>
                </a:solidFill>
                <a:latin typeface="Consolas"/>
              </a:defRPr>
            </a:pPr>
            <a:r>
              <a:t>    displayProduct("Mouse", 24.50);</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Key Rules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Separate parameters with commas</a:t>
            </a:r>
          </a:p>
          <a:p>
            <a:pPr>
              <a:defRPr sz="1400">
                <a:solidFill>
                  <a:srgbClr val="000000"/>
                </a:solidFill>
              </a:defRPr>
            </a:pPr>
            <a:r>
              <a:t>Each parameter needs a type</a:t>
            </a:r>
          </a:p>
          <a:p>
            <a:pPr>
              <a:defRPr sz="1400">
                <a:solidFill>
                  <a:srgbClr val="000000"/>
                </a:solidFill>
              </a:defRPr>
            </a:pPr>
            <a:r>
              <a:t>Order matters - arguments must match parameter order</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Parameter Order and Types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displayStudent(string name, int age, double gpa) {</a:t>
            </a:r>
          </a:p>
          <a:p>
            <a:pPr>
              <a:defRPr sz="1200">
                <a:solidFill>
                  <a:srgbClr val="000000"/>
                </a:solidFill>
                <a:latin typeface="Consolas"/>
              </a:defRPr>
            </a:pPr>
            <a:r>
              <a:t>    cout &lt;&lt; name &lt;&lt; " is " &lt;&lt; age &lt;&lt; " years old" &lt;&lt; endl;</a:t>
            </a:r>
          </a:p>
          <a:p>
            <a:pPr>
              <a:defRPr sz="1200">
                <a:solidFill>
                  <a:srgbClr val="000000"/>
                </a:solidFill>
                <a:latin typeface="Consolas"/>
              </a:defRPr>
            </a:pPr>
            <a:r>
              <a:t>    cout &lt;&lt; "GPA: " &lt;&lt; gpa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displayStudent("Alice", 20, 3.8);     // Correct</a:t>
            </a:r>
          </a:p>
          <a:p>
            <a:pPr>
              <a:defRPr sz="1200">
                <a:solidFill>
                  <a:srgbClr val="000000"/>
                </a:solidFill>
                <a:latin typeface="Consolas"/>
              </a:defRPr>
            </a:pPr>
            <a:r>
              <a:t>    displayStudent(20, "Alice", 3.8);     // ERROR - wrong types</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Prototype (declaration) - tells compiler function exists</a:t>
            </a:r>
          </a:p>
          <a:p>
            <a:pPr>
              <a:defRPr sz="1200">
                <a:solidFill>
                  <a:srgbClr val="000000"/>
                </a:solidFill>
                <a:latin typeface="Consolas"/>
              </a:defRPr>
            </a:pPr>
            <a:r>
              <a:t>void displayStudent(string name, int age, double gpa);</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displayStudent("Alice", 20, 3.8);  // Can call here</a:t>
            </a: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 Definition (implementation) - actual code</a:t>
            </a:r>
          </a:p>
          <a:p>
            <a:pPr>
              <a:defRPr sz="1200">
                <a:solidFill>
                  <a:srgbClr val="000000"/>
                </a:solidFill>
                <a:latin typeface="Consolas"/>
              </a:defRPr>
            </a:pPr>
            <a:r>
              <a:t>void displayStudent(string name, int age, double gpa) {</a:t>
            </a:r>
          </a:p>
          <a:p>
            <a:pPr>
              <a:defRPr sz="1200">
                <a:solidFill>
                  <a:srgbClr val="000000"/>
                </a:solidFill>
                <a:latin typeface="Consolas"/>
              </a:defRPr>
            </a:pPr>
            <a:r>
              <a:t>    cout &lt;&lt; name &lt;&lt; " is " &lt;&lt; age &lt;&lt; " years old"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Prototype Syntax</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Full prototype with parameter names (recommended)</a:t>
            </a:r>
          </a:p>
          <a:p>
            <a:pPr>
              <a:defRPr sz="1200">
                <a:solidFill>
                  <a:srgbClr val="000000"/>
                </a:solidFill>
                <a:latin typeface="Consolas"/>
              </a:defRPr>
            </a:pPr>
            <a:r>
              <a:t>double calculateAverage(double score1, double score2, double score3);</a:t>
            </a:r>
          </a:p>
          <a:p>
            <a:pPr>
              <a:defRPr sz="1200">
                <a:solidFill>
                  <a:srgbClr val="000000"/>
                </a:solidFill>
                <a:latin typeface="Consolas"/>
              </a:defRPr>
            </a:pPr>
            <a:endParaRPr/>
          </a:p>
          <a:p>
            <a:pPr>
              <a:defRPr sz="1200">
                <a:solidFill>
                  <a:srgbClr val="000000"/>
                </a:solidFill>
                <a:latin typeface="Consolas"/>
              </a:defRPr>
            </a:pPr>
            <a:r>
              <a:t>// Parameter names optional, but less clear</a:t>
            </a:r>
          </a:p>
          <a:p>
            <a:pPr>
              <a:defRPr sz="1200">
                <a:solidFill>
                  <a:srgbClr val="000000"/>
                </a:solidFill>
                <a:latin typeface="Consolas"/>
              </a:defRPr>
            </a:pPr>
            <a:r>
              <a:t>double calculateAverage(double, double, double);</a:t>
            </a:r>
          </a:p>
          <a:p>
            <a:pPr>
              <a:defRPr sz="1200">
                <a:solidFill>
                  <a:srgbClr val="000000"/>
                </a:solidFill>
                <a:latin typeface="Consolas"/>
              </a:defRPr>
            </a:pPr>
            <a:endParaRPr/>
          </a:p>
          <a:p>
            <a:pPr>
              <a:defRPr sz="1200">
                <a:solidFill>
                  <a:srgbClr val="000000"/>
                </a:solidFill>
                <a:latin typeface="Consolas"/>
              </a:defRPr>
            </a:pPr>
            <a:r>
              <a:t>// Multiple prototypes</a:t>
            </a:r>
          </a:p>
          <a:p>
            <a:pPr>
              <a:defRPr sz="1200">
                <a:solidFill>
                  <a:srgbClr val="000000"/>
                </a:solidFill>
                <a:latin typeface="Consolas"/>
              </a:defRPr>
            </a:pPr>
            <a:r>
              <a:t>void displayMenu();</a:t>
            </a:r>
          </a:p>
          <a:p>
            <a:pPr>
              <a:defRPr sz="1200">
                <a:solidFill>
                  <a:srgbClr val="000000"/>
                </a:solidFill>
                <a:latin typeface="Consolas"/>
              </a:defRPr>
            </a:pPr>
            <a:r>
              <a:t>int getChoice();</a:t>
            </a:r>
          </a:p>
          <a:p>
            <a:pPr>
              <a:defRPr sz="1200">
                <a:solidFill>
                  <a:srgbClr val="000000"/>
                </a:solidFill>
                <a:latin typeface="Consolas"/>
              </a:defRPr>
            </a:pPr>
            <a:r>
              <a:t>double calculateTax(double amount);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Values: Sending Data Back</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add(int a, int b) {</a:t>
            </a:r>
          </a:p>
          <a:p>
            <a:pPr>
              <a:defRPr sz="1200">
                <a:solidFill>
                  <a:srgbClr val="000000"/>
                </a:solidFill>
                <a:latin typeface="Consolas"/>
              </a:defRPr>
            </a:pPr>
            <a:r>
              <a:t>    return a + b;</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Using Return Values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add(int a, int b) {</a:t>
            </a:r>
          </a:p>
          <a:p>
            <a:pPr>
              <a:defRPr sz="1200">
                <a:solidFill>
                  <a:srgbClr val="000000"/>
                </a:solidFill>
                <a:latin typeface="Consolas"/>
              </a:defRPr>
            </a:pPr>
            <a:r>
              <a:t>    return a + b;</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 Store in a variable</a:t>
            </a:r>
          </a:p>
          <a:p>
            <a:pPr>
              <a:defRPr sz="1200">
                <a:solidFill>
                  <a:srgbClr val="000000"/>
                </a:solidFill>
                <a:latin typeface="Consolas"/>
              </a:defRPr>
            </a:pPr>
            <a:r>
              <a:t>    int result = add(5, 3);</a:t>
            </a:r>
          </a:p>
          <a:p>
            <a:pPr>
              <a:defRPr sz="1200">
                <a:solidFill>
                  <a:srgbClr val="000000"/>
                </a:solidFill>
                <a:latin typeface="Consolas"/>
              </a:defRPr>
            </a:pPr>
            <a:r>
              <a:t>    cout &lt;&lt; "Result: " &lt;&lt; result &lt;&lt; endl;</a:t>
            </a:r>
          </a:p>
          <a:p>
            <a:pPr>
              <a:defRPr sz="1200">
                <a:solidFill>
                  <a:srgbClr val="000000"/>
                </a:solidFill>
                <a:latin typeface="Consolas"/>
              </a:defRPr>
            </a:pPr>
            <a:endParaRPr/>
          </a:p>
          <a:p>
            <a:pPr>
              <a:defRPr sz="1200">
                <a:solidFill>
                  <a:srgbClr val="000000"/>
                </a:solidFill>
                <a:latin typeface="Consolas"/>
              </a:defRPr>
            </a:pPr>
            <a:r>
              <a:t>    // Use directly in expression</a:t>
            </a:r>
          </a:p>
          <a:p>
            <a:pPr>
              <a:defRPr sz="1200">
                <a:solidFill>
                  <a:srgbClr val="000000"/>
                </a:solidFill>
                <a:latin typeface="Consolas"/>
              </a:defRPr>
            </a:pPr>
            <a:r>
              <a:t>    cout &lt;&lt; "Sum: " &lt;&lt; add(10, 20) &lt;&lt; endl;</a:t>
            </a:r>
          </a:p>
          <a:p>
            <a:pPr>
              <a:defRPr sz="1200">
                <a:solidFill>
                  <a:srgbClr val="000000"/>
                </a:solidFill>
                <a:latin typeface="Consolas"/>
              </a:defRPr>
            </a:pPr>
            <a:endParaRPr/>
          </a:p>
          <a:p>
            <a:pPr>
              <a:defRPr sz="1200">
                <a:solidFill>
                  <a:srgbClr val="000000"/>
                </a:solidFill>
                <a:latin typeface="Consolas"/>
              </a:defRPr>
            </a:pPr>
            <a:r>
              <a:t>    // Pass to another function</a:t>
            </a:r>
          </a:p>
          <a:p>
            <a:pPr>
              <a:defRPr sz="1200">
                <a:solidFill>
                  <a:srgbClr val="000000"/>
                </a:solidFill>
                <a:latin typeface="Consolas"/>
              </a:defRPr>
            </a:pPr>
            <a:r>
              <a:t>    cout &lt;&lt; add(5, add(2, 3)) &lt;&lt; endl;</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Type Must Match</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getValue() {</a:t>
            </a:r>
          </a:p>
          <a:p>
            <a:pPr>
              <a:defRPr sz="1200">
                <a:solidFill>
                  <a:srgbClr val="000000"/>
                </a:solidFill>
                <a:latin typeface="Consolas"/>
              </a:defRPr>
            </a:pPr>
            <a:r>
              <a:t>    return 3.14;        // WARNING - truncated to 3</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double getNumber() {</a:t>
            </a:r>
          </a:p>
          <a:p>
            <a:pPr>
              <a:defRPr sz="1200">
                <a:solidFill>
                  <a:srgbClr val="000000"/>
                </a:solidFill>
                <a:latin typeface="Consolas"/>
              </a:defRPr>
            </a:pPr>
            <a:r>
              <a:t>    return 42;          // OK - converts to 42.0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string getName() {</a:t>
            </a:r>
          </a:p>
          <a:p>
            <a:pPr>
              <a:defRPr sz="1200">
                <a:solidFill>
                  <a:srgbClr val="000000"/>
                </a:solidFill>
                <a:latin typeface="Consolas"/>
              </a:defRPr>
            </a:pPr>
            <a:r>
              <a:t>    return 123;         // ERROR - cannot convert int to string</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Multiple Return Statements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char getLetterGrade(int score) {</a:t>
            </a:r>
          </a:p>
          <a:p>
            <a:pPr>
              <a:defRPr sz="1200">
                <a:solidFill>
                  <a:srgbClr val="000000"/>
                </a:solidFill>
                <a:latin typeface="Consolas"/>
              </a:defRPr>
            </a:pPr>
            <a:r>
              <a:t>    if (score &gt;= 90) {</a:t>
            </a:r>
          </a:p>
          <a:p>
            <a:pPr>
              <a:defRPr sz="1200">
                <a:solidFill>
                  <a:srgbClr val="000000"/>
                </a:solidFill>
                <a:latin typeface="Consolas"/>
              </a:defRPr>
            </a:pPr>
            <a:r>
              <a:t>        return 'A';</a:t>
            </a:r>
          </a:p>
          <a:p>
            <a:pPr>
              <a:defRPr sz="1200">
                <a:solidFill>
                  <a:srgbClr val="000000"/>
                </a:solidFill>
                <a:latin typeface="Consolas"/>
              </a:defRPr>
            </a:pPr>
            <a:r>
              <a:t>    }</a:t>
            </a:r>
          </a:p>
          <a:p>
            <a:pPr>
              <a:defRPr sz="1200">
                <a:solidFill>
                  <a:srgbClr val="000000"/>
                </a:solidFill>
                <a:latin typeface="Consolas"/>
              </a:defRPr>
            </a:pPr>
            <a:r>
              <a:t>    if (score &gt;= 80) {</a:t>
            </a:r>
          </a:p>
          <a:p>
            <a:pPr>
              <a:defRPr sz="1200">
                <a:solidFill>
                  <a:srgbClr val="000000"/>
                </a:solidFill>
                <a:latin typeface="Consolas"/>
              </a:defRPr>
            </a:pPr>
            <a:r>
              <a:t>        return 'B';</a:t>
            </a:r>
          </a:p>
          <a:p>
            <a:pPr>
              <a:defRPr sz="1200">
                <a:solidFill>
                  <a:srgbClr val="000000"/>
                </a:solidFill>
                <a:latin typeface="Consolas"/>
              </a:defRPr>
            </a:pPr>
            <a:r>
              <a:t>    }</a:t>
            </a:r>
          </a:p>
          <a:p>
            <a:pPr>
              <a:defRPr sz="1200">
                <a:solidFill>
                  <a:srgbClr val="000000"/>
                </a:solidFill>
                <a:latin typeface="Consolas"/>
              </a:defRPr>
            </a:pPr>
            <a:r>
              <a:t>    if (score &gt;= 70) {</a:t>
            </a:r>
          </a:p>
          <a:p>
            <a:pPr>
              <a:defRPr sz="1200">
                <a:solidFill>
                  <a:srgbClr val="000000"/>
                </a:solidFill>
                <a:latin typeface="Consolas"/>
              </a:defRPr>
            </a:pPr>
            <a:r>
              <a:t>        return 'C';</a:t>
            </a:r>
          </a:p>
          <a:p>
            <a:pPr>
              <a:defRPr sz="1200">
                <a:solidFill>
                  <a:srgbClr val="000000"/>
                </a:solidFill>
                <a:latin typeface="Consolas"/>
              </a:defRPr>
            </a:pPr>
            <a:r>
              <a:t>    }</a:t>
            </a:r>
          </a:p>
          <a:p>
            <a:pPr>
              <a:defRPr sz="1200">
                <a:solidFill>
                  <a:srgbClr val="000000"/>
                </a:solidFill>
                <a:latin typeface="Consolas"/>
              </a:defRPr>
            </a:pPr>
            <a:r>
              <a:t>    if (score &gt;= 60) {</a:t>
            </a:r>
          </a:p>
          <a:p>
            <a:pPr>
              <a:defRPr sz="1200">
                <a:solidFill>
                  <a:srgbClr val="000000"/>
                </a:solidFill>
                <a:latin typeface="Consolas"/>
              </a:defRPr>
            </a:pPr>
            <a:r>
              <a:t>        return 'D';</a:t>
            </a:r>
          </a:p>
          <a:p>
            <a:pPr>
              <a:defRPr sz="1200">
                <a:solidFill>
                  <a:srgbClr val="000000"/>
                </a:solidFill>
                <a:latin typeface="Consolas"/>
              </a:defRPr>
            </a:pPr>
            <a:r>
              <a:t>    }</a:t>
            </a:r>
          </a:p>
          <a:p>
            <a:pPr>
              <a:defRPr sz="1200">
                <a:solidFill>
                  <a:srgbClr val="000000"/>
                </a:solidFill>
                <a:latin typeface="Consolas"/>
              </a:defRPr>
            </a:pPr>
            <a:r>
              <a:t>    return 'F';</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Round-Trip Method</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int CalcYears(boolean);</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int age = 0;</a:t>
            </a:r>
          </a:p>
          <a:p>
            <a:pPr>
              <a:defRPr sz="1200">
                <a:solidFill>
                  <a:srgbClr val="000000"/>
                </a:solidFill>
                <a:latin typeface="Consolas"/>
              </a:defRPr>
            </a:pPr>
            <a:endParaRPr/>
          </a:p>
          <a:p>
            <a:pPr>
              <a:defRPr sz="1200">
                <a:solidFill>
                  <a:srgbClr val="000000"/>
                </a:solidFill>
                <a:latin typeface="Consolas"/>
              </a:defRPr>
            </a:pPr>
            <a:r>
              <a:t>    age = CalcYears(true);</a:t>
            </a:r>
          </a:p>
          <a:p>
            <a:pPr>
              <a:defRPr sz="1200">
                <a:solidFill>
                  <a:srgbClr val="000000"/>
                </a:solidFill>
                <a:latin typeface="Consolas"/>
              </a:defRPr>
            </a:pPr>
            <a:r>
              <a:t>    cout &lt;&lt; age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CalcYears(boolean isDog) {</a:t>
            </a:r>
          </a:p>
          <a:p>
            <a:pPr>
              <a:defRPr sz="1200">
                <a:solidFill>
                  <a:srgbClr val="000000"/>
                </a:solidFill>
                <a:latin typeface="Consolas"/>
              </a:defRPr>
            </a:pPr>
            <a:r>
              <a:t>    if (isDog) return 7;</a:t>
            </a:r>
          </a:p>
          <a:p>
            <a:pPr>
              <a:defRPr sz="1200">
                <a:solidFill>
                  <a:srgbClr val="000000"/>
                </a:solidFill>
                <a:latin typeface="Consolas"/>
              </a:defRPr>
            </a:pPr>
            <a:r>
              <a:t>    return 3;</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Temperature Conversion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double celsiusToFahrenheit(double celsius);  // Prototype</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double tempC = 25.0;</a:t>
            </a:r>
          </a:p>
          <a:p>
            <a:pPr>
              <a:defRPr sz="1200">
                <a:solidFill>
                  <a:srgbClr val="000000"/>
                </a:solidFill>
                <a:latin typeface="Consolas"/>
              </a:defRPr>
            </a:pPr>
            <a:r>
              <a:t>    double tempF = celsiusToFahrenheit(tempC);</a:t>
            </a:r>
          </a:p>
          <a:p>
            <a:pPr>
              <a:defRPr sz="1200">
                <a:solidFill>
                  <a:srgbClr val="000000"/>
                </a:solidFill>
                <a:latin typeface="Consolas"/>
              </a:defRPr>
            </a:pPr>
            <a:endParaRPr/>
          </a:p>
          <a:p>
            <a:pPr>
              <a:defRPr sz="1200">
                <a:solidFill>
                  <a:srgbClr val="000000"/>
                </a:solidFill>
                <a:latin typeface="Consolas"/>
              </a:defRPr>
            </a:pPr>
            <a:r>
              <a:t>    cout &lt;&lt; fixed &lt;&lt; setprecision(1);</a:t>
            </a:r>
          </a:p>
          <a:p>
            <a:pPr>
              <a:defRPr sz="1200">
                <a:solidFill>
                  <a:srgbClr val="000000"/>
                </a:solidFill>
                <a:latin typeface="Consolas"/>
              </a:defRPr>
            </a:pPr>
            <a:r>
              <a:t>    cout &lt;&lt; tempC &lt;&lt; "°C = " &lt;&lt; tempF &lt;&lt; "°F" &lt;&lt; endl;</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double celsiusToFahrenheit(double celsius) {</a:t>
            </a:r>
          </a:p>
          <a:p>
            <a:pPr>
              <a:defRPr sz="1200">
                <a:solidFill>
                  <a:srgbClr val="000000"/>
                </a:solidFill>
                <a:latin typeface="Consolas"/>
              </a:defRPr>
            </a:pPr>
            <a:r>
              <a:t>    return (celsius * 9.0 / 5.0) + 32.0;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Grade Determination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char determineGrade(double average);  // Prototype</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char grade = determineGrade(87.5);</a:t>
            </a:r>
          </a:p>
          <a:p>
            <a:pPr>
              <a:defRPr sz="1200">
                <a:solidFill>
                  <a:srgbClr val="000000"/>
                </a:solidFill>
                <a:latin typeface="Consolas"/>
              </a:defRPr>
            </a:pPr>
            <a:r>
              <a:t>    cout &lt;&lt; "Grade: " &lt;&lt; grade &lt;&lt; endl;</a:t>
            </a: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char determineGrade(double average) {</a:t>
            </a:r>
          </a:p>
          <a:p>
            <a:pPr>
              <a:defRPr sz="1200">
                <a:solidFill>
                  <a:srgbClr val="000000"/>
                </a:solidFill>
                <a:latin typeface="Consolas"/>
              </a:defRPr>
            </a:pPr>
            <a:r>
              <a:t>    if (average &gt;= 90) return 'A';</a:t>
            </a:r>
          </a:p>
          <a:p>
            <a:pPr>
              <a:defRPr sz="1200">
                <a:solidFill>
                  <a:srgbClr val="000000"/>
                </a:solidFill>
                <a:latin typeface="Consolas"/>
              </a:defRPr>
            </a:pPr>
            <a:r>
              <a:t>    if (average &gt;= 80) return 'B';</a:t>
            </a:r>
          </a:p>
          <a:p>
            <a:pPr>
              <a:defRPr sz="1200">
                <a:solidFill>
                  <a:srgbClr val="000000"/>
                </a:solidFill>
                <a:latin typeface="Consolas"/>
              </a:defRPr>
            </a:pPr>
            <a:r>
              <a:t>    if (average &gt;= 70) return 'C';</a:t>
            </a:r>
          </a:p>
          <a:p>
            <a:pPr>
              <a:defRPr sz="1200">
                <a:solidFill>
                  <a:srgbClr val="000000"/>
                </a:solidFill>
                <a:latin typeface="Consolas"/>
              </a:defRPr>
            </a:pPr>
            <a:r>
              <a:t>    if (average &gt;= 60) return 'D';</a:t>
            </a:r>
          </a:p>
          <a:p>
            <a:pPr>
              <a:defRPr sz="1200">
                <a:solidFill>
                  <a:srgbClr val="000000"/>
                </a:solidFill>
                <a:latin typeface="Consolas"/>
              </a:defRPr>
            </a:pPr>
            <a:r>
              <a:t>    return 'F';</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Grade Calculator</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 Prototypes</a:t>
            </a:r>
          </a:p>
          <a:p>
            <a:pPr>
              <a:defRPr sz="1200">
                <a:solidFill>
                  <a:srgbClr val="000000"/>
                </a:solidFill>
                <a:latin typeface="Consolas"/>
              </a:defRPr>
            </a:pPr>
            <a:r>
              <a:t>double calculateAverage(int s1, int s2, int s3);</a:t>
            </a:r>
          </a:p>
          <a:p>
            <a:pPr>
              <a:defRPr sz="1200">
                <a:solidFill>
                  <a:srgbClr val="000000"/>
                </a:solidFill>
                <a:latin typeface="Consolas"/>
              </a:defRPr>
            </a:pPr>
            <a:r>
              <a:t>char determineGrade(double average);</a:t>
            </a:r>
          </a:p>
          <a:p>
            <a:pPr>
              <a:defRPr sz="1200">
                <a:solidFill>
                  <a:srgbClr val="000000"/>
                </a:solidFill>
                <a:latin typeface="Consolas"/>
              </a:defRPr>
            </a:pPr>
            <a:r>
              <a:t>void displayResults(string name, double avg, char grade);</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string student = "Alice";</a:t>
            </a:r>
          </a:p>
          <a:p>
            <a:pPr>
              <a:defRPr sz="1200">
                <a:solidFill>
                  <a:srgbClr val="000000"/>
                </a:solidFill>
                <a:latin typeface="Consolas"/>
              </a:defRPr>
            </a:pPr>
            <a:r>
              <a:t>    double avg = calculateAverage(85, 92, 88);</a:t>
            </a:r>
          </a:p>
          <a:p>
            <a:pPr>
              <a:defRPr sz="1200">
                <a:solidFill>
                  <a:srgbClr val="000000"/>
                </a:solidFill>
                <a:latin typeface="Consolas"/>
              </a:defRPr>
            </a:pPr>
            <a:r>
              <a:t>    char grade = determineGrade(avg);</a:t>
            </a:r>
          </a:p>
          <a:p>
            <a:pPr>
              <a:defRPr sz="1200">
                <a:solidFill>
                  <a:srgbClr val="000000"/>
                </a:solidFill>
                <a:latin typeface="Consolas"/>
              </a:defRPr>
            </a:pPr>
            <a:r>
              <a:t>    displayResults(student, avg, grade);</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What’s the Output?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Exercise Goals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Review of code syntax</a:t>
            </a:r>
          </a:p>
          <a:p>
            <a:pPr>
              <a:defRPr sz="1400">
                <a:solidFill>
                  <a:srgbClr val="000000"/>
                </a:solidFill>
              </a:defRPr>
            </a:pPr>
            <a:r>
              <a:t>Check understanding of syntax</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 to Do</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Using the given code …</a:t>
            </a:r>
          </a:p>
          <a:p>
            <a:pPr>
              <a:defRPr sz="1400">
                <a:solidFill>
                  <a:srgbClr val="000000"/>
                </a:solidFill>
              </a:defRPr>
            </a:pPr>
            <a:r>
              <a:t>Compute the output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What’s the Output?</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endParaRPr/>
          </a:p>
          <a:p>
            <a:pPr>
              <a:defRPr sz="1000">
                <a:solidFill>
                  <a:srgbClr val="000000"/>
                </a:solidFill>
                <a:latin typeface="Consolas"/>
              </a:defRPr>
            </a:pPr>
            <a:r>
              <a:t>double calculateArea(double radius);</a:t>
            </a:r>
          </a:p>
          <a:p>
            <a:pPr>
              <a:defRPr sz="1000">
                <a:solidFill>
                  <a:srgbClr val="000000"/>
                </a:solidFill>
                <a:latin typeface="Consolas"/>
              </a:defRPr>
            </a:pPr>
            <a:endParaRPr/>
          </a:p>
          <a:p>
            <a:pPr>
              <a:defRPr sz="1000">
                <a:solidFill>
                  <a:srgbClr val="000000"/>
                </a:solidFill>
                <a:latin typeface="Consolas"/>
              </a:defRPr>
            </a:pPr>
            <a:r>
              <a:t>int main() {</a:t>
            </a:r>
          </a:p>
          <a:p>
            <a:pPr>
              <a:defRPr sz="1000">
                <a:solidFill>
                  <a:srgbClr val="000000"/>
                </a:solidFill>
                <a:latin typeface="Consolas"/>
              </a:defRPr>
            </a:pPr>
            <a:r>
              <a:t>    double radius = 5.0;</a:t>
            </a:r>
          </a:p>
          <a:p>
            <a:pPr>
              <a:defRPr sz="1000">
                <a:solidFill>
                  <a:srgbClr val="000000"/>
                </a:solidFill>
                <a:latin typeface="Consolas"/>
              </a:defRPr>
            </a:pPr>
            <a:r>
              <a:t>    double area = calculateArea(radius);</a:t>
            </a:r>
          </a:p>
          <a:p>
            <a:pPr>
              <a:defRPr sz="1000">
                <a:solidFill>
                  <a:srgbClr val="000000"/>
                </a:solidFill>
                <a:latin typeface="Consolas"/>
              </a:defRPr>
            </a:pPr>
            <a:endParaRPr/>
          </a:p>
          <a:p>
            <a:pPr>
              <a:defRPr sz="1000">
                <a:solidFill>
                  <a:srgbClr val="000000"/>
                </a:solidFill>
                <a:latin typeface="Consolas"/>
              </a:defRPr>
            </a:pPr>
            <a:r>
              <a:t>    cout &lt;&lt; "Radius: " &lt;&lt; radius &lt;&lt; endl;</a:t>
            </a:r>
          </a:p>
          <a:p>
            <a:pPr>
              <a:defRPr sz="1000">
                <a:solidFill>
                  <a:srgbClr val="000000"/>
                </a:solidFill>
                <a:latin typeface="Consolas"/>
              </a:defRPr>
            </a:pPr>
            <a:r>
              <a:t>    cout &lt;&lt; "Area: " &lt;&lt; area &lt;&lt; endl;</a:t>
            </a:r>
          </a:p>
          <a:p>
            <a:pPr>
              <a:defRPr sz="1000">
                <a:solidFill>
                  <a:srgbClr val="000000"/>
                </a:solidFill>
                <a:latin typeface="Consolas"/>
              </a:defRPr>
            </a:pPr>
            <a:endParaRPr/>
          </a:p>
          <a:p>
            <a:pPr>
              <a:defRPr sz="1000">
                <a:solidFill>
                  <a:srgbClr val="000000"/>
                </a:solidFill>
                <a:latin typeface="Consolas"/>
              </a:defRPr>
            </a:pPr>
            <a:r>
              <a:t>    double newRadius = 3.0;</a:t>
            </a:r>
          </a:p>
          <a:p>
            <a:pPr>
              <a:defRPr sz="1000">
                <a:solidFill>
                  <a:srgbClr val="000000"/>
                </a:solidFill>
                <a:latin typeface="Consolas"/>
              </a:defRPr>
            </a:pPr>
            <a:r>
              <a:t>    cout &lt;&lt; "New area: " &lt;&lt; calculateArea(newRadius) &lt;&lt; endl;</a:t>
            </a:r>
          </a:p>
          <a:p>
            <a:pPr>
              <a:defRPr sz="1000">
                <a:solidFill>
                  <a:srgbClr val="000000"/>
                </a:solidFill>
                <a:latin typeface="Consolas"/>
              </a:defRPr>
            </a:pPr>
            <a:endParaR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double calculateArea(double radius) {</a:t>
            </a:r>
          </a:p>
          <a:p>
            <a:pPr>
              <a:defRPr sz="1000">
                <a:solidFill>
                  <a:srgbClr val="000000"/>
                </a:solidFill>
                <a:latin typeface="Consolas"/>
              </a:defRPr>
            </a:pPr>
            <a:r>
              <a:t>    return 3.14 * radius * radius;</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endParaRPr/>
          </a:p>
          <a:p>
            <a:pPr>
              <a:defRPr sz="1000">
                <a:solidFill>
                  <a:srgbClr val="000000"/>
                </a:solidFill>
                <a:latin typeface="Consolas"/>
              </a:defRPr>
            </a:pPr>
            <a:r>
              <a:t>double calculateArea(double radius);</a:t>
            </a:r>
          </a:p>
          <a:p>
            <a:pPr>
              <a:defRPr sz="1000">
                <a:solidFill>
                  <a:srgbClr val="000000"/>
                </a:solidFill>
                <a:latin typeface="Consolas"/>
              </a:defRPr>
            </a:pPr>
            <a:endParaRPr/>
          </a:p>
          <a:p>
            <a:pPr>
              <a:defRPr sz="1000">
                <a:solidFill>
                  <a:srgbClr val="000000"/>
                </a:solidFill>
                <a:latin typeface="Consolas"/>
              </a:defRPr>
            </a:pPr>
            <a:r>
              <a:t>int main() {</a:t>
            </a:r>
          </a:p>
          <a:p>
            <a:pPr>
              <a:defRPr sz="1000">
                <a:solidFill>
                  <a:srgbClr val="000000"/>
                </a:solidFill>
                <a:latin typeface="Consolas"/>
              </a:defRPr>
            </a:pPr>
            <a:r>
              <a:t>    double radius = 5.0;</a:t>
            </a:r>
          </a:p>
          <a:p>
            <a:pPr>
              <a:defRPr sz="1000">
                <a:solidFill>
                  <a:srgbClr val="000000"/>
                </a:solidFill>
                <a:latin typeface="Consolas"/>
              </a:defRPr>
            </a:pPr>
            <a:r>
              <a:t>    double area = calculateArea(radius);</a:t>
            </a:r>
          </a:p>
          <a:p>
            <a:pPr>
              <a:defRPr sz="1000">
                <a:solidFill>
                  <a:srgbClr val="000000"/>
                </a:solidFill>
                <a:latin typeface="Consolas"/>
              </a:defRPr>
            </a:pPr>
            <a:endParaRPr/>
          </a:p>
          <a:p>
            <a:pPr>
              <a:defRPr sz="1000">
                <a:solidFill>
                  <a:srgbClr val="000000"/>
                </a:solidFill>
                <a:latin typeface="Consolas"/>
              </a:defRPr>
            </a:pPr>
            <a:r>
              <a:t>    cout &lt;&lt; "Radius: " &lt;&lt; radius &lt;&lt; endl;</a:t>
            </a:r>
          </a:p>
          <a:p>
            <a:pPr>
              <a:defRPr sz="1000">
                <a:solidFill>
                  <a:srgbClr val="000000"/>
                </a:solidFill>
                <a:latin typeface="Consolas"/>
              </a:defRPr>
            </a:pPr>
            <a:r>
              <a:t>    cout &lt;&lt; "Area: " &lt;&lt; area &lt;&lt; endl;</a:t>
            </a:r>
          </a:p>
          <a:p>
            <a:pPr>
              <a:defRPr sz="1000">
                <a:solidFill>
                  <a:srgbClr val="000000"/>
                </a:solidFill>
                <a:latin typeface="Consolas"/>
              </a:defRPr>
            </a:pPr>
            <a:endParaRPr/>
          </a:p>
          <a:p>
            <a:pPr>
              <a:defRPr sz="1000">
                <a:solidFill>
                  <a:srgbClr val="000000"/>
                </a:solidFill>
                <a:latin typeface="Consolas"/>
              </a:defRPr>
            </a:pPr>
            <a:r>
              <a:t>    double newRadius = 3.0;</a:t>
            </a:r>
          </a:p>
          <a:p>
            <a:pPr>
              <a:defRPr sz="1000">
                <a:solidFill>
                  <a:srgbClr val="000000"/>
                </a:solidFill>
                <a:latin typeface="Consolas"/>
              </a:defRPr>
            </a:pPr>
            <a:r>
              <a:t>    cout &lt;&lt; "New area: " &lt;&lt; calculateArea(newRadius) &lt;&lt; endl;</a:t>
            </a:r>
          </a:p>
          <a:p>
            <a:pPr>
              <a:defRPr sz="1000">
                <a:solidFill>
                  <a:srgbClr val="000000"/>
                </a:solidFill>
                <a:latin typeface="Consolas"/>
              </a:defRPr>
            </a:pPr>
            <a:endParaR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double calculateArea(double radius) {</a:t>
            </a:r>
          </a:p>
          <a:p>
            <a:pPr>
              <a:defRPr sz="1000">
                <a:solidFill>
                  <a:srgbClr val="000000"/>
                </a:solidFill>
                <a:latin typeface="Consolas"/>
              </a:defRPr>
            </a:pPr>
            <a:r>
              <a:t>    return 3.14 * radius * radius;</a:t>
            </a:r>
          </a:p>
          <a:p>
            <a:pPr>
              <a:defRPr sz="1000">
                <a:solidFill>
                  <a:srgbClr val="000000"/>
                </a:solidFill>
                <a:latin typeface="Consolas"/>
              </a:defRPr>
            </a:pPr>
            <a:r>
              <a:t>}</a:t>
            </a:r>
          </a:p>
        </p:txBody>
      </p:sp>
      <p:sp>
        <p:nvSpPr>
          <p:cNvPr id="3" name="TextBox 2"/>
          <p:cNvSpPr txBox="1"/>
          <p:nvPr/>
        </p:nvSpPr>
        <p:spPr>
          <a:xfrm>
            <a:off x="457200" y="393192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Radius: 5</a:t>
            </a:r>
          </a:p>
          <a:p>
            <a:pPr>
              <a:defRPr sz="1200">
                <a:solidFill>
                  <a:srgbClr val="000000"/>
                </a:solidFill>
                <a:latin typeface="Consolas"/>
              </a:defRPr>
            </a:pPr>
            <a:r>
              <a:t>Area: 78.5</a:t>
            </a:r>
          </a:p>
          <a:p>
            <a:pPr>
              <a:defRPr sz="1200">
                <a:solidFill>
                  <a:srgbClr val="000000"/>
                </a:solidFill>
                <a:latin typeface="Consolas"/>
              </a:defRPr>
            </a:pPr>
            <a:r>
              <a:t>New area: 28.26</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Code This: Pizza Order Calculator</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Estimated Time:</a:t>
            </a:r>
          </a:p>
          <a:p>
            <a:pPr>
              <a:defRPr sz="1400">
                <a:solidFill>
                  <a:srgbClr val="000000"/>
                </a:solidFill>
              </a:defRPr>
            </a:pPr>
            <a:r>
              <a:t>20 minutes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Problem Description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Write a program that calculates the cost of a pizza order. Your program should use multiple functions to break down the calculation into logical steps.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Requirements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Your program must include the following functions:</a:t>
            </a:r>
          </a:p>
          <a:p>
            <a:pPr>
              <a:defRPr sz="1400">
                <a:solidFill>
                  <a:srgbClr val="000000"/>
                </a:solidFill>
              </a:defRPr>
            </a:pPr>
            <a:r>
              <a:t>calculatePizzaCost</a:t>
            </a:r>
          </a:p>
          <a:p>
            <a:pPr>
              <a:defRPr sz="1400">
                <a:solidFill>
                  <a:srgbClr val="000000"/>
                </a:solidFill>
              </a:defRPr>
            </a:pPr>
            <a:r>
              <a:t>- Takes the pizza size (small, medium, or large) as a character (‘S’, ‘M’, or ‘L’) and returns the base cost as a double.</a:t>
            </a:r>
          </a:p>
          <a:p>
            <a:pPr>
              <a:defRPr sz="1400">
                <a:solidFill>
                  <a:srgbClr val="000000"/>
                </a:solidFill>
              </a:defRPr>
            </a:pPr>
            <a:r>
              <a:t>Small: $8.99</a:t>
            </a:r>
          </a:p>
          <a:p>
            <a:pPr>
              <a:defRPr sz="1400">
                <a:solidFill>
                  <a:srgbClr val="000000"/>
                </a:solidFill>
              </a:defRPr>
            </a:pPr>
            <a:r>
              <a:t>Medium: $12.99</a:t>
            </a:r>
          </a:p>
          <a:p>
            <a:pPr>
              <a:defRPr sz="1400">
                <a:solidFill>
                  <a:srgbClr val="000000"/>
                </a:solidFill>
              </a:defRPr>
            </a:pPr>
            <a:r>
              <a:t>Large: $16.99</a:t>
            </a:r>
          </a:p>
          <a:p>
            <a:pPr>
              <a:defRPr sz="1400">
                <a:solidFill>
                  <a:srgbClr val="000000"/>
                </a:solidFill>
              </a:defRPr>
            </a:pPr>
            <a:r>
              <a:t>calculateToppingsCost</a:t>
            </a:r>
          </a:p>
          <a:p>
            <a:pPr>
              <a:defRPr sz="1400">
                <a:solidFill>
                  <a:srgbClr val="000000"/>
                </a:solidFill>
              </a:defRPr>
            </a:pPr>
            <a:r>
              <a:t>- Takes the number of toppings as an integer and returns the total topping cost as a double.</a:t>
            </a:r>
          </a:p>
          <a:p>
            <a:pPr>
              <a:defRPr sz="1400">
                <a:solidFill>
                  <a:srgbClr val="000000"/>
                </a:solidFill>
              </a:defRPr>
            </a:pPr>
            <a:r>
              <a:t>Each topping costs $1.50</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Requirements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calculateTotal</a:t>
            </a:r>
          </a:p>
          <a:p>
            <a:pPr>
              <a:defRPr sz="1400">
                <a:solidFill>
                  <a:srgbClr val="000000"/>
                </a:solidFill>
              </a:defRPr>
            </a:pPr>
            <a:r>
              <a:t>- Takes the pizza cost and toppings cost as parameters and returns the final total as a double.</a:t>
            </a:r>
          </a:p>
          <a:p>
            <a:pPr>
              <a:defRPr sz="1400">
                <a:solidFill>
                  <a:srgbClr val="000000"/>
                </a:solidFill>
              </a:defRPr>
            </a:pPr>
            <a:r>
              <a:t>displayReceipt</a:t>
            </a:r>
          </a:p>
          <a:p>
            <a:pPr>
              <a:defRPr sz="1400">
                <a:solidFill>
                  <a:srgbClr val="000000"/>
                </a:solidFill>
              </a:defRPr>
            </a:pPr>
            <a:r>
              <a:t>- A void function that takes the pizza size (char), number of toppings (int), and total cost (double) as parameters and displays a formatted receipt.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Sample Output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For a medium pizza with 3 toppings, your program should display:</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Your Task</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Write function prototypes for all four functions</a:t>
            </a:r>
          </a:p>
          <a:p>
            <a:pPr>
              <a:defRPr sz="1400">
                <a:solidFill>
                  <a:srgbClr val="000000"/>
                </a:solidFill>
              </a:defRPr>
            </a:pPr>
            <a:r>
              <a:t>Implement the main() function to:</a:t>
            </a:r>
          </a:p>
          <a:p>
            <a:pPr>
              <a:defRPr sz="1400">
                <a:solidFill>
                  <a:srgbClr val="000000"/>
                </a:solidFill>
              </a:defRPr>
            </a:pPr>
            <a:r>
              <a:t>Create variables for pizza size (‘M’) and number of toppings (3)</a:t>
            </a:r>
          </a:p>
          <a:p>
            <a:pPr>
              <a:defRPr sz="1400">
                <a:solidFill>
                  <a:srgbClr val="000000"/>
                </a:solidFill>
              </a:defRPr>
            </a:pPr>
            <a:r>
              <a:t>Call the functions in the correct order</a:t>
            </a:r>
          </a:p>
          <a:p>
            <a:pPr>
              <a:defRPr sz="1400">
                <a:solidFill>
                  <a:srgbClr val="000000"/>
                </a:solidFill>
              </a:defRPr>
            </a:pPr>
            <a:r>
              <a:t>Display the receipt</a:t>
            </a:r>
          </a:p>
          <a:p>
            <a:pPr>
              <a:defRPr sz="1400">
                <a:solidFill>
                  <a:srgbClr val="000000"/>
                </a:solidFill>
              </a:defRPr>
            </a:pPr>
            <a:r>
              <a:t>Implement all four function definitions below main()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Starter Code Structure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 Write your function prototypes here</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 Your code here</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 Write your function definitions here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Tips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Remember to use function prototypes before main()</a:t>
            </a:r>
          </a:p>
          <a:p>
            <a:pPr>
              <a:defRPr sz="1400">
                <a:solidFill>
                  <a:srgbClr val="000000"/>
                </a:solidFill>
              </a:defRPr>
            </a:pPr>
            <a:r>
              <a:t>The displayReceipt function should use cout with proper formatting</a:t>
            </a:r>
          </a:p>
          <a:p>
            <a:pPr>
              <a:defRPr sz="1400">
                <a:solidFill>
                  <a:srgbClr val="000000"/>
                </a:solidFill>
              </a:defRPr>
            </a:pPr>
            <a:r>
              <a:t>Use setprecision(2) and fixed for dollar amounts</a:t>
            </a:r>
          </a:p>
          <a:p>
            <a:pPr>
              <a:defRPr sz="1400">
                <a:solidFill>
                  <a:srgbClr val="000000"/>
                </a:solidFill>
              </a:defRPr>
            </a:pPr>
            <a:r>
              <a:t>Make sure your function calls pass arguments in the correct order</a:t>
            </a:r>
          </a:p>
          <a:p>
            <a:pPr>
              <a:defRPr sz="1400">
                <a:solidFill>
                  <a:srgbClr val="000000"/>
                </a:solidFill>
              </a:defRPr>
            </a:pPr>
            <a:r>
              <a:t>Test with the given values first: size ‘M’ and 3 toppings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Challenge (Optional - if you finish early)</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Modify your program to ask the user for their pizza size and number of toppings using cin, then display the receipt with their choices.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Key Takaways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Function-Centric Architecture</a:t>
            </a:r>
          </a:p>
          <a:p>
            <a:pPr>
              <a:defRPr sz="1400">
                <a:solidFill>
                  <a:srgbClr val="000000"/>
                </a:solidFill>
              </a:defRPr>
            </a:pPr>
            <a:r>
              <a:t>. A program design approach organizing code around functions as primary building blocks, separating data and behavior through a top-down design where main problems are broken into smaller sub-problems implemented as functions.</a:t>
            </a:r>
          </a:p>
          <a:p>
            <a:pPr>
              <a:defRPr sz="1400">
                <a:solidFill>
                  <a:srgbClr val="000000"/>
                </a:solidFill>
              </a:defRPr>
            </a:pPr>
            <a:r>
              <a:t>Void Functions</a:t>
            </a:r>
          </a:p>
          <a:p>
            <a:pPr>
              <a:defRPr sz="1400">
                <a:solidFill>
                  <a:srgbClr val="000000"/>
                </a:solidFill>
              </a:defRPr>
            </a:pPr>
            <a:r>
              <a:t>. Functions declared with void return type perform actions without returning values, used to organize code, avoid repetition, and improve readability through descriptive function names that act as labels for code blocks.</a:t>
            </a:r>
          </a:p>
          <a:p>
            <a:pPr>
              <a:defRPr sz="1400">
                <a:solidFill>
                  <a:srgbClr val="000000"/>
                </a:solidFill>
              </a:defRPr>
            </a:pPr>
            <a:r>
              <a:t>Passing Data and Function Prototypes</a:t>
            </a:r>
          </a:p>
          <a:p>
            <a:pPr>
              <a:defRPr sz="1400">
                <a:solidFill>
                  <a:srgbClr val="000000"/>
                </a:solidFill>
              </a:defRPr>
            </a:pPr>
            <a:r>
              <a:t>. Functions accept input through parameters and return output via retu...</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Next Time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Local and global variables</a:t>
            </a:r>
          </a:p>
          <a:p>
            <a:pPr>
              <a:defRPr sz="1400">
                <a:solidFill>
                  <a:srgbClr val="000000"/>
                </a:solidFill>
              </a:defRPr>
            </a:pPr>
            <a:r>
              <a:t>Memory and functions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4908</Words>
  <Application>Microsoft Macintosh PowerPoint</Application>
  <PresentationFormat>On-screen Show (16:9)</PresentationFormat>
  <Paragraphs>378</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Fowler, Caleb</cp:lastModifiedBy>
  <cp:revision>2</cp:revision>
  <dcterms:created xsi:type="dcterms:W3CDTF">2013-01-27T09:14:16Z</dcterms:created>
  <dcterms:modified xsi:type="dcterms:W3CDTF">2026-02-15T22:06:48Z</dcterms:modified>
  <cp:category/>
</cp:coreProperties>
</file>